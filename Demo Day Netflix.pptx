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14"/>
  </p:notesMasterIdLst>
  <p:sldIdLst>
    <p:sldId id="256" r:id="rId2"/>
    <p:sldId id="257" r:id="rId3"/>
    <p:sldId id="279" r:id="rId4"/>
    <p:sldId id="280" r:id="rId5"/>
    <p:sldId id="281" r:id="rId6"/>
    <p:sldId id="282" r:id="rId7"/>
    <p:sldId id="283" r:id="rId8"/>
    <p:sldId id="286" r:id="rId9"/>
    <p:sldId id="284" r:id="rId10"/>
    <p:sldId id="287" r:id="rId11"/>
    <p:sldId id="288" r:id="rId12"/>
    <p:sldId id="276" r:id="rId13"/>
  </p:sldIdLst>
  <p:sldSz cx="9144000" cy="5143500" type="screen16x9"/>
  <p:notesSz cx="6858000" cy="9144000"/>
  <p:embeddedFontLst>
    <p:embeddedFont>
      <p:font typeface="Abadi" panose="020B0604020104020204" pitchFamily="34" charset="0"/>
      <p:regular r:id="rId15"/>
      <p:bold r:id="rId16"/>
      <p:italic r:id="rId17"/>
      <p:boldItalic r:id="rId18"/>
    </p:embeddedFont>
    <p:embeddedFont>
      <p:font typeface="Inter" panose="020B0604020202020204" charset="0"/>
      <p:regular r:id="rId19"/>
      <p:bold r:id="rId20"/>
      <p:italic r:id="rId21"/>
      <p:boldItalic r:id="rId22"/>
    </p:embeddedFont>
    <p:embeddedFont>
      <p:font typeface="Inter SemiBold" panose="020B0604020202020204"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0207"/>
    <a:srgbClr val="06030A"/>
    <a:srgbClr val="1A0C26"/>
    <a:srgbClr val="5C0000"/>
    <a:srgbClr val="5F0801"/>
    <a:srgbClr val="890B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4C234D-A43A-412F-BB16-1F98B2275FB8}">
  <a:tblStyle styleId="{B64C234D-A43A-412F-BB16-1F98B2275FB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487" autoAdjust="0"/>
  </p:normalViewPr>
  <p:slideViewPr>
    <p:cSldViewPr snapToGrid="0">
      <p:cViewPr varScale="1">
        <p:scale>
          <a:sx n="96" d="100"/>
          <a:sy n="96" d="100"/>
        </p:scale>
        <p:origin x="1278" y="312"/>
      </p:cViewPr>
      <p:guideLst/>
    </p:cSldViewPr>
  </p:slideViewPr>
  <p:notesTextViewPr>
    <p:cViewPr>
      <p:scale>
        <a:sx n="1" d="1"/>
        <a:sy n="1" d="1"/>
      </p:scale>
      <p:origin x="0" y="0"/>
    </p:cViewPr>
  </p:notesTextViewPr>
  <p:notesViewPr>
    <p:cSldViewPr snapToGrid="0">
      <p:cViewPr varScale="1">
        <p:scale>
          <a:sx n="84" d="100"/>
          <a:sy n="84" d="100"/>
        </p:scale>
        <p:origin x="286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a5178bf3d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ga5178bf3d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911296c28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D2B887DA-260F-FA87-4764-8F548CE52BEE}"/>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A1A8CE63-3627-AA0C-041C-A78A90D517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40429213-AFB8-C42C-AB0F-6212E9B574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"Cette analyse vise à comprendre comment est construit le catalogue Netflix, comment il performe en termes de qualité et de popularité, et comment il évolue dans le temps.</a:t>
            </a:r>
            <a:br>
              <a:rPr lang="fr-FR" dirty="0"/>
            </a:br>
            <a:r>
              <a:rPr lang="fr-FR" dirty="0"/>
              <a:t>J’ai aussi étudié l’origine géographique, les talents associés aux contenus et la performance économique, pour identifier les leviers d’optimisation possibles.</a:t>
            </a:r>
            <a:endParaRPr dirty="0"/>
          </a:p>
        </p:txBody>
      </p:sp>
    </p:spTree>
    <p:extLst>
      <p:ext uri="{BB962C8B-B14F-4D97-AF65-F5344CB8AC3E}">
        <p14:creationId xmlns:p14="http://schemas.microsoft.com/office/powerpoint/2010/main" val="2693744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3CB1BB8A-BB20-4386-3015-D3E82196F4F8}"/>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530886FF-BC1D-8F7C-E545-163D642417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A5D0B44B-D08B-5DCC-AFB5-1EE83AC801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b="1" dirty="0"/>
              <a:t>Questions auxquelles répondre</a:t>
            </a:r>
          </a:p>
          <a:p>
            <a:r>
              <a:rPr lang="fr-FR" dirty="0"/>
              <a:t>Netflix propose-t-il plus de films ou de séries ?</a:t>
            </a:r>
          </a:p>
          <a:p>
            <a:r>
              <a:rPr lang="fr-FR" dirty="0"/>
              <a:t>Quels genres dominent le catalogue ?</a:t>
            </a:r>
          </a:p>
          <a:p>
            <a:r>
              <a:rPr lang="fr-FR" dirty="0"/>
              <a:t>Le catalogue est-il plutôt orienté contenu long ou court ?</a:t>
            </a:r>
          </a:p>
          <a:p>
            <a:endParaRPr lang="fr-FR" b="1" dirty="0"/>
          </a:p>
          <a:p>
            <a:r>
              <a:rPr lang="fr-FR" b="1" dirty="0"/>
              <a:t>Pitch proposé (20–30 secondes)</a:t>
            </a:r>
          </a:p>
          <a:p>
            <a:r>
              <a:rPr lang="fr-FR" i="1" dirty="0"/>
              <a:t>"Cette première partie offre une vision globale du catalogue Netflix.</a:t>
            </a:r>
            <a:br>
              <a:rPr lang="fr-FR" i="1" dirty="0"/>
            </a:br>
            <a:r>
              <a:rPr lang="fr-FR" i="1" dirty="0"/>
              <a:t>On observe d’abord un volume total de 1 526 programmes, issus de 62 pays, avec un score moyen de 65,77, ce qui indique une qualité globalement correcte mais perfectible.</a:t>
            </a:r>
            <a:br>
              <a:rPr lang="fr-FR" i="1" dirty="0"/>
            </a:br>
            <a:r>
              <a:rPr lang="fr-FR" i="1" dirty="0"/>
              <a:t>La distribution des contenus montre une très forte domination des films, qui représentent plus de 90 % du catalogue, alors que les séries ne comptent que pour 8,5 %.</a:t>
            </a:r>
            <a:br>
              <a:rPr lang="fr-FR" i="1" dirty="0"/>
            </a:br>
            <a:r>
              <a:rPr lang="fr-FR" i="1" dirty="0"/>
              <a:t>Enfin, parmi les catégories les plus représentées au sein des titres populaires, on retrouve principalement le Drama, Action et Aventures et enfin la </a:t>
            </a:r>
            <a:r>
              <a:rPr lang="fr-FR" i="1" dirty="0" err="1"/>
              <a:t>comedies</a:t>
            </a:r>
            <a:r>
              <a:rPr lang="fr-FR" i="1" dirty="0"/>
              <a:t>. Cela met déjà en évidence un décalage entre le volume proposé et ce que les utilisateurs plébiscitent le plus."</a:t>
            </a:r>
            <a:endParaRPr lang="fr-FR" dirty="0"/>
          </a:p>
          <a:p>
            <a:br>
              <a:rPr lang="fr-FR" dirty="0"/>
            </a:br>
            <a:endParaRPr lang="fr-FR" dirty="0"/>
          </a:p>
          <a:p>
            <a:r>
              <a:rPr lang="fr-FR" b="1" dirty="0"/>
              <a:t>🎤 Version plus courte (15 secondes)</a:t>
            </a:r>
          </a:p>
          <a:p>
            <a:r>
              <a:rPr lang="fr-FR" i="1" dirty="0"/>
              <a:t>"Cette vision globale montre que le catalogue Netflix est très majoritairement composé de films, avec plus de 1 500 programmes et un score moyen d’environ 66.</a:t>
            </a:r>
            <a:br>
              <a:rPr lang="fr-FR" i="1" dirty="0"/>
            </a:br>
            <a:r>
              <a:rPr lang="fr-FR" i="1" dirty="0"/>
              <a:t>On observe aussi que les catégories les plus présentes parmi les contenus populaires sont la science-fiction, le fantastique et les thrillers, ce qui révèle des tendances fortes dans les préférences des utilisateurs."</a:t>
            </a:r>
            <a:endParaRPr lang="fr-FR" dirty="0"/>
          </a:p>
        </p:txBody>
      </p:sp>
    </p:spTree>
    <p:extLst>
      <p:ext uri="{BB962C8B-B14F-4D97-AF65-F5344CB8AC3E}">
        <p14:creationId xmlns:p14="http://schemas.microsoft.com/office/powerpoint/2010/main" val="3538206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0CF0311A-A778-C6EA-98B2-C68682CDA766}"/>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A168321A-05A5-0469-CDD9-7E91B1AF4F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6A5C8555-5F44-DBAB-FE8D-121B5698DE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sz="1100" b="1" dirty="0"/>
              <a:t>Questions</a:t>
            </a:r>
          </a:p>
          <a:p>
            <a:r>
              <a:rPr lang="fr-FR" sz="1100" dirty="0"/>
              <a:t>Quels genres sont les mieux notés ?</a:t>
            </a:r>
          </a:p>
          <a:p>
            <a:r>
              <a:rPr lang="fr-FR" sz="1100" dirty="0"/>
              <a:t>Les séries sont-elles mieux notées que les films ?</a:t>
            </a:r>
          </a:p>
          <a:p>
            <a:r>
              <a:rPr lang="fr-FR" sz="1100" dirty="0"/>
              <a:t>Certains pays produisent-ils du contenu plus apprécié ?</a:t>
            </a:r>
          </a:p>
          <a:p>
            <a:r>
              <a:rPr lang="fr-FR" b="1" dirty="0"/>
              <a:t>🎤 Version courte (idéale soutenance – 20 secondes)</a:t>
            </a:r>
          </a:p>
          <a:p>
            <a:r>
              <a:rPr lang="fr-FR" i="1" dirty="0"/>
              <a:t>"Cette diapo montre la relation entre les genres les plus représentés et leur score moyen.</a:t>
            </a:r>
            <a:br>
              <a:rPr lang="fr-FR" i="1" dirty="0"/>
            </a:br>
            <a:r>
              <a:rPr lang="fr-FR" i="1" dirty="0"/>
              <a:t>On voit que les genres les plus volumineux comme les drames, l’action-aventure ou les comédies ont des scores situés entre 64 et 69, donc une qualité correcte mais pas exceptionnelle.</a:t>
            </a:r>
            <a:br>
              <a:rPr lang="fr-FR" i="1" dirty="0"/>
            </a:br>
            <a:r>
              <a:rPr lang="fr-FR" i="1" dirty="0"/>
              <a:t>À l’inverse, certains genres beaucoup moins présents, comme les films classiques ou indépendants, affichent des scores plus élevés, jusqu’à plus de 73.</a:t>
            </a:r>
            <a:br>
              <a:rPr lang="fr-FR" i="1" dirty="0"/>
            </a:br>
            <a:r>
              <a:rPr lang="fr-FR" i="1" dirty="0"/>
              <a:t>Cela montre qu’un haut volume de titres ne garantit pas une meilleure qualité."</a:t>
            </a:r>
            <a:endParaRPr lang="fr-FR" dirty="0"/>
          </a:p>
          <a:p>
            <a:br>
              <a:rPr lang="fr-FR" dirty="0"/>
            </a:br>
            <a:endParaRPr lang="fr-FR" dirty="0"/>
          </a:p>
          <a:p>
            <a:r>
              <a:rPr lang="fr-FR" b="1" dirty="0"/>
              <a:t>🎤 Version détaillée (plus explicative – 35 secondes)</a:t>
            </a:r>
          </a:p>
          <a:p>
            <a:r>
              <a:rPr lang="fr-FR" dirty="0"/>
              <a:t>*"Sur cette slide, j’analyse les scores moyens par genre.</a:t>
            </a:r>
            <a:br>
              <a:rPr lang="fr-FR" dirty="0"/>
            </a:br>
            <a:r>
              <a:rPr lang="fr-FR" dirty="0"/>
              <a:t>Les genres les plus représentés dans le catalogue, comme les drames, l’action-aventure et les comédies, ont des notes moyennes dans une fourchette assez stable, autour de 64 à 69. Cela montre que, malgré une offre importante, la qualité reste modérée.</a:t>
            </a:r>
          </a:p>
          <a:p>
            <a:r>
              <a:rPr lang="fr-FR" dirty="0"/>
              <a:t>À l’inverse, certains genres beaucoup moins volumineux, comme les films classiques ou indépendants, affichent des scores nettement plus élevés, dépassant parfois 73.</a:t>
            </a:r>
          </a:p>
          <a:p>
            <a:r>
              <a:rPr lang="fr-FR" dirty="0"/>
              <a:t>Cette comparaison révèle donc un point important : Netflix produit ou acquiert beaucoup de contenus dans des genres populaires commercialement, mais ce ne sont pas forcément ceux qui obtiennent les meilleures évaluations de la part du public."*</a:t>
            </a:r>
          </a:p>
          <a:p>
            <a:br>
              <a:rPr lang="fr-FR" dirty="0"/>
            </a:br>
            <a:endParaRPr lang="fr-FR" dirty="0"/>
          </a:p>
          <a:p>
            <a:r>
              <a:rPr lang="fr-FR" b="1" dirty="0"/>
              <a:t>🎤 Version </a:t>
            </a:r>
            <a:r>
              <a:rPr lang="fr-FR" b="1" dirty="0" err="1"/>
              <a:t>punchline</a:t>
            </a:r>
            <a:r>
              <a:rPr lang="fr-FR" b="1" dirty="0"/>
              <a:t> (si tu veux marquer un point)</a:t>
            </a:r>
          </a:p>
          <a:p>
            <a:r>
              <a:rPr lang="fr-FR" i="1" dirty="0"/>
              <a:t>"On remarque ici un contraste intéressant : les genres les plus présents ne sont pas forcément les mieux notés. Netflix mise sur des volumes importants, mais la qualité maximale se trouve dans des catégories beaucoup plus confidentielles."</a:t>
            </a:r>
            <a:endParaRPr lang="fr-FR" dirty="0"/>
          </a:p>
        </p:txBody>
      </p:sp>
    </p:spTree>
    <p:extLst>
      <p:ext uri="{BB962C8B-B14F-4D97-AF65-F5344CB8AC3E}">
        <p14:creationId xmlns:p14="http://schemas.microsoft.com/office/powerpoint/2010/main" val="822481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74F95CE0-CEFA-70FF-28C1-7780FD7135ED}"/>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8FEB2FD7-177E-08A6-CA05-53A72402E9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72F9875B-72B0-6EBE-ECEF-F323F7E89A3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dirty="0"/>
              <a:t>👉 Objectif : analyser la </a:t>
            </a:r>
            <a:r>
              <a:rPr lang="fr-FR" b="1" dirty="0"/>
              <a:t>diversité culturelle et géographique</a:t>
            </a:r>
            <a:r>
              <a:rPr lang="fr-FR" dirty="0"/>
              <a:t> du contenu.</a:t>
            </a:r>
          </a:p>
          <a:p>
            <a:r>
              <a:rPr lang="fr-FR" dirty="0"/>
              <a:t>Les États-Unis dominent-ils toujours ?</a:t>
            </a:r>
          </a:p>
          <a:p>
            <a:r>
              <a:rPr lang="fr-FR" dirty="0"/>
              <a:t>Quels pays émergent récemment ?</a:t>
            </a:r>
          </a:p>
          <a:p>
            <a:r>
              <a:rPr lang="fr-FR" dirty="0"/>
              <a:t>Netflix diversifie-t-il ses productions ?</a:t>
            </a:r>
          </a:p>
          <a:p>
            <a:endParaRPr lang="fr-FR" dirty="0"/>
          </a:p>
          <a:p>
            <a:r>
              <a:rPr lang="fr-FR" b="1" dirty="0"/>
              <a:t>Version courte (20–25 sec – idéale soutenance)</a:t>
            </a:r>
          </a:p>
          <a:p>
            <a:r>
              <a:rPr lang="fr-FR" i="1" dirty="0"/>
              <a:t>"Cette slide montre que le catalogue Netflix est fortement dominé par les productions américaines, qui représentent près de 50 % des contenus.</a:t>
            </a:r>
            <a:br>
              <a:rPr lang="fr-FR" i="1" dirty="0"/>
            </a:br>
            <a:r>
              <a:rPr lang="fr-FR" i="1" dirty="0"/>
              <a:t>Lorsqu’on regarde la part non américaine, on voit que le Royaume-Uni et le Canada complètent largement cette domination occidentale, tandis que la production asiatique ou européenne hors France reste beaucoup plus limitée.</a:t>
            </a:r>
            <a:br>
              <a:rPr lang="fr-FR" i="1" dirty="0"/>
            </a:br>
            <a:r>
              <a:rPr lang="fr-FR" i="1" dirty="0"/>
              <a:t>Enfin, le graphique de droite montre que, selon les pays, le genre dominant reste très souvent le drame ou l’action-aventure, ce qui reflète un catalogue diversifié mais avec une forte empreinte culturelle américaine."</a:t>
            </a:r>
            <a:endParaRPr lang="fr-FR" dirty="0"/>
          </a:p>
          <a:p>
            <a:br>
              <a:rPr lang="fr-FR" dirty="0"/>
            </a:br>
            <a:endParaRPr lang="fr-FR" dirty="0"/>
          </a:p>
          <a:p>
            <a:r>
              <a:rPr lang="fr-FR" b="1" dirty="0"/>
              <a:t>🎤 Version détaillée (35–40 sec)</a:t>
            </a:r>
          </a:p>
          <a:p>
            <a:r>
              <a:rPr lang="fr-FR" dirty="0"/>
              <a:t>*"Cette partie met en évidence la dimension géographique du catalogue Netflix.</a:t>
            </a:r>
            <a:br>
              <a:rPr lang="fr-FR" dirty="0"/>
            </a:br>
            <a:r>
              <a:rPr lang="fr-FR" dirty="0"/>
              <a:t>On observe que presque la moitié du catalogue provient des États-Unis, ce qui montre une très forte centralisation de la production.</a:t>
            </a:r>
            <a:br>
              <a:rPr lang="fr-FR" dirty="0"/>
            </a:br>
            <a:r>
              <a:rPr lang="fr-FR" dirty="0"/>
              <a:t>La production non américaine est principalement portée par trois pays : le Royaume-Uni, le Canada et la France, qui représentent ensemble une part importante du contenu international. En revanche, des pays comme le Japon, l’Allemagne ou l’Australie contribuent de manière bien plus marginale.</a:t>
            </a:r>
          </a:p>
          <a:p>
            <a:r>
              <a:rPr lang="fr-FR" dirty="0"/>
              <a:t>Lorsque l’on analyse le genre dominant par pays, on remarque que le drame est très largement présent, suivi par l’action-aventure. Cela confirme que Netflix reste centré sur quelques genres clés, quelle que soit la région d’origine.</a:t>
            </a:r>
            <a:br>
              <a:rPr lang="fr-FR" dirty="0"/>
            </a:br>
            <a:r>
              <a:rPr lang="fr-FR" dirty="0"/>
              <a:t>Au final, le catalogue montre une diversité certaine, mais encore très concentrée sur le monde occidental."*</a:t>
            </a:r>
          </a:p>
          <a:p>
            <a:endParaRPr lang="fr-FR" dirty="0"/>
          </a:p>
        </p:txBody>
      </p:sp>
    </p:spTree>
    <p:extLst>
      <p:ext uri="{BB962C8B-B14F-4D97-AF65-F5344CB8AC3E}">
        <p14:creationId xmlns:p14="http://schemas.microsoft.com/office/powerpoint/2010/main" val="375534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3B23376C-AA48-A9EE-51B9-795533D733C5}"/>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3E711C13-8A07-F09B-AC94-D952A9875F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E959775A-4928-1CBE-1A57-9EEA55ABC9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dirty="0"/>
              <a:t>Quand Netflix a-t-il accéléré sa production ?</a:t>
            </a:r>
          </a:p>
          <a:p>
            <a:r>
              <a:rPr lang="fr-FR" dirty="0"/>
              <a:t>Y a-t-il un changement de stratégie (plus de séries) ?</a:t>
            </a:r>
          </a:p>
          <a:p>
            <a:r>
              <a:rPr lang="fr-FR" dirty="0"/>
              <a:t>Les genres évoluent-ils avec le temps ?</a:t>
            </a:r>
          </a:p>
          <a:p>
            <a:endParaRPr lang="fr-FR" dirty="0"/>
          </a:p>
          <a:p>
            <a:endParaRPr lang="fr-FR" dirty="0"/>
          </a:p>
          <a:p>
            <a:r>
              <a:rPr lang="fr-FR" b="1" dirty="0"/>
              <a:t>Pitch proposé (20–30 secondes – idéal soutenance)</a:t>
            </a:r>
          </a:p>
          <a:p>
            <a:r>
              <a:rPr lang="fr-FR" dirty="0"/>
              <a:t>*"Sur cette slide, on observe deux phénomènes importants dans l’évolution du catalogue Netflix.</a:t>
            </a:r>
            <a:br>
              <a:rPr lang="fr-FR" dirty="0"/>
            </a:br>
            <a:r>
              <a:rPr lang="fr-FR" dirty="0"/>
              <a:t>D’abord, l’arrivée progressive des séries à partir de 2014, puis une vraie phase de croissance dès 2016, avec une accélération notable des ajouts de contenus.</a:t>
            </a:r>
          </a:p>
          <a:p>
            <a:r>
              <a:rPr lang="fr-FR" dirty="0"/>
              <a:t>Ensuite, le graphique du bas montre une tendance assez intéressante : la durée moyenne des films augmente progressivement au fil des années, alors que leur score moyen a d’abord fortement chuté avant de remonter légèrement.</a:t>
            </a:r>
            <a:br>
              <a:rPr lang="fr-FR" dirty="0"/>
            </a:br>
            <a:r>
              <a:rPr lang="fr-FR" dirty="0"/>
              <a:t>On voit donc une évolution contrastée, qui suggère qu’allonger la durée des films n’a pas forcément conduit à une amélioration immédiate de leur qualité perçue."*</a:t>
            </a:r>
          </a:p>
          <a:p>
            <a:br>
              <a:rPr lang="fr-FR" dirty="0"/>
            </a:br>
            <a:endParaRPr lang="fr-FR" dirty="0"/>
          </a:p>
          <a:p>
            <a:r>
              <a:rPr lang="fr-FR" b="1" dirty="0"/>
              <a:t>🎤 Version courte (15 secondes)</a:t>
            </a:r>
          </a:p>
          <a:p>
            <a:r>
              <a:rPr lang="fr-FR" i="1" dirty="0"/>
              <a:t>"On voit ici que les séries n’apparaissent vraiment qu’à partir de 2014, et que la croissance du catalogue démarre en 2016.</a:t>
            </a:r>
            <a:br>
              <a:rPr lang="fr-FR" i="1" dirty="0"/>
            </a:br>
            <a:r>
              <a:rPr lang="fr-FR" i="1" dirty="0"/>
              <a:t>En parallèle, la durée des films augmente dans le temps, alors que les scores connaissent une baisse avant une légère remontée. Cela montre que durée et qualité ne progressent pas forcément ensemble."</a:t>
            </a:r>
            <a:endParaRPr lang="fr-FR" dirty="0"/>
          </a:p>
          <a:p>
            <a:endParaRPr lang="fr-FR" dirty="0"/>
          </a:p>
        </p:txBody>
      </p:sp>
    </p:spTree>
    <p:extLst>
      <p:ext uri="{BB962C8B-B14F-4D97-AF65-F5344CB8AC3E}">
        <p14:creationId xmlns:p14="http://schemas.microsoft.com/office/powerpoint/2010/main" val="1501226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058D584E-6325-0AC5-3C25-6E50A930559C}"/>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55543628-7D7E-83D1-D703-10945F2F8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1717EFFD-3A0D-1447-F7B8-8AAFA04D16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sz="1100" b="1" dirty="0"/>
              <a:t>Casting</a:t>
            </a:r>
          </a:p>
          <a:p>
            <a:r>
              <a:rPr lang="fr-FR" sz="1100" dirty="0"/>
              <a:t>👉 Objectif : analyser les </a:t>
            </a:r>
            <a:r>
              <a:rPr lang="fr-FR" sz="1100" b="1" dirty="0"/>
              <a:t>acteurs, réalisateurs et collaborations</a:t>
            </a:r>
            <a:r>
              <a:rPr lang="fr-FR" sz="1100" dirty="0"/>
              <a:t>.</a:t>
            </a:r>
          </a:p>
          <a:p>
            <a:r>
              <a:rPr lang="fr-FR" sz="1100" b="1" dirty="0"/>
              <a:t>Indicateurs</a:t>
            </a:r>
          </a:p>
          <a:p>
            <a:r>
              <a:rPr lang="fr-FR" sz="1100" dirty="0"/>
              <a:t>Acteurs les plus présents</a:t>
            </a:r>
          </a:p>
          <a:p>
            <a:r>
              <a:rPr lang="fr-FR" sz="1100" dirty="0"/>
              <a:t>Réalisateurs les plus prolifiques</a:t>
            </a:r>
          </a:p>
          <a:p>
            <a:r>
              <a:rPr lang="fr-FR" sz="1100" dirty="0"/>
              <a:t>Nombre moyen d’acteurs par contenu</a:t>
            </a:r>
          </a:p>
          <a:p>
            <a:r>
              <a:rPr lang="fr-FR" sz="1100" dirty="0"/>
              <a:t>Collaborations fréquentes acteur–réalisateur</a:t>
            </a:r>
          </a:p>
          <a:p>
            <a:r>
              <a:rPr lang="fr-FR" sz="1100" b="1" dirty="0"/>
              <a:t>Visualisations</a:t>
            </a:r>
          </a:p>
          <a:p>
            <a:r>
              <a:rPr lang="fr-FR" sz="1100" b="1" dirty="0"/>
              <a:t>Top 10 acteurs</a:t>
            </a:r>
            <a:r>
              <a:rPr lang="fr-FR" sz="1100" dirty="0"/>
              <a:t> (barres)</a:t>
            </a:r>
          </a:p>
          <a:p>
            <a:r>
              <a:rPr lang="fr-FR" sz="1100" b="1" dirty="0"/>
              <a:t>Top 10 réalisateurs</a:t>
            </a:r>
            <a:endParaRPr lang="fr-FR" sz="1100" dirty="0"/>
          </a:p>
          <a:p>
            <a:r>
              <a:rPr lang="fr-FR" sz="1100" b="1" dirty="0"/>
              <a:t>Graph réseau</a:t>
            </a:r>
            <a:r>
              <a:rPr lang="fr-FR" sz="1100" dirty="0"/>
              <a:t> (acteur ↔ réalisateur)</a:t>
            </a:r>
          </a:p>
          <a:p>
            <a:r>
              <a:rPr lang="fr-FR" sz="1100" b="1" dirty="0"/>
              <a:t>Nuage de mots</a:t>
            </a:r>
            <a:r>
              <a:rPr lang="fr-FR" sz="1100" dirty="0"/>
              <a:t> (casting)</a:t>
            </a:r>
          </a:p>
          <a:p>
            <a:r>
              <a:rPr lang="fr-FR" sz="1100" b="1" dirty="0"/>
              <a:t>Questions</a:t>
            </a:r>
          </a:p>
          <a:p>
            <a:r>
              <a:rPr lang="fr-FR" sz="1100" dirty="0"/>
              <a:t>Netflix mise-t-il sur des acteurs récurrents ?</a:t>
            </a:r>
          </a:p>
          <a:p>
            <a:r>
              <a:rPr lang="fr-FR" sz="1100" dirty="0"/>
              <a:t>Certains réalisateurs sont-ils des “piliers” ?</a:t>
            </a:r>
          </a:p>
          <a:p>
            <a:r>
              <a:rPr lang="fr-FR" sz="1100" dirty="0"/>
              <a:t>Y a-t-il des collaborations récurrentes ?</a:t>
            </a:r>
          </a:p>
        </p:txBody>
      </p:sp>
    </p:spTree>
    <p:extLst>
      <p:ext uri="{BB962C8B-B14F-4D97-AF65-F5344CB8AC3E}">
        <p14:creationId xmlns:p14="http://schemas.microsoft.com/office/powerpoint/2010/main" val="1882924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88811656-FB46-1849-FF81-9C9880565946}"/>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BF4F5836-62CB-5C6A-A7D2-823B744A09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868AFF75-ACD1-CB5A-20EE-18A56D82E1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b="1" dirty="0"/>
              <a:t>💰 Budget &amp; Performance (slide à part)</a:t>
            </a:r>
          </a:p>
          <a:p>
            <a:r>
              <a:rPr lang="fr-FR" b="1" dirty="0"/>
              <a:t>🎯 Objectif</a:t>
            </a:r>
          </a:p>
          <a:p>
            <a:r>
              <a:rPr lang="fr-FR" dirty="0"/>
              <a:t>Analyser :</a:t>
            </a:r>
          </a:p>
          <a:p>
            <a:r>
              <a:rPr lang="fr-FR" dirty="0"/>
              <a:t>l’effort d’investissement</a:t>
            </a:r>
          </a:p>
          <a:p>
            <a:r>
              <a:rPr lang="fr-FR" dirty="0"/>
              <a:t>la rentabilité potentielle</a:t>
            </a:r>
          </a:p>
          <a:p>
            <a:r>
              <a:rPr lang="fr-FR" dirty="0"/>
              <a:t>les corrélations </a:t>
            </a:r>
            <a:r>
              <a:rPr lang="fr-FR" b="1" dirty="0"/>
              <a:t>budget ↔ succès</a:t>
            </a:r>
            <a:endParaRPr lang="fr-FR" dirty="0"/>
          </a:p>
          <a:p>
            <a:r>
              <a:rPr lang="fr-FR" dirty="0"/>
              <a:t>👉 C’est un </a:t>
            </a:r>
            <a:r>
              <a:rPr lang="fr-FR" b="1" dirty="0"/>
              <a:t>niveau d’analyse plus avancé</a:t>
            </a:r>
            <a:r>
              <a:rPr lang="fr-FR" dirty="0"/>
              <a:t>, très bien vu par un jury.</a:t>
            </a:r>
          </a:p>
          <a:p>
            <a:endParaRPr lang="fr-FR" dirty="0"/>
          </a:p>
          <a:p>
            <a:endParaRPr lang="fr-FR" dirty="0"/>
          </a:p>
          <a:p>
            <a:r>
              <a:rPr lang="fr-FR" dirty="0"/>
              <a:t>"Cette slide analyse la relation entre les budgets investis, les revenus générés et les scores des films.</a:t>
            </a:r>
            <a:br>
              <a:rPr lang="fr-FR" dirty="0"/>
            </a:br>
            <a:r>
              <a:rPr lang="fr-FR" dirty="0"/>
              <a:t>On voit d’abord que certains genres, comme les comédies ou les drames, génèrent beaucoup de revenus avec des budgets relativement maîtrisés.</a:t>
            </a:r>
            <a:br>
              <a:rPr lang="fr-FR" dirty="0"/>
            </a:br>
            <a:r>
              <a:rPr lang="fr-FR" dirty="0"/>
              <a:t>La tendance temporelle montre également une croissance soutenue des revenus depuis 2016, avec un pic entre 2019 et 2021.</a:t>
            </a:r>
          </a:p>
          <a:p>
            <a:r>
              <a:rPr lang="fr-FR" dirty="0"/>
              <a:t>Lorsque l’on regarde les films individuellement, on constate que les plus gros budgets ne sont pas toujours synonymes de meilleurs scores : certains titres très coûteux affichent des notes autour de 60, tandis que des films moins coûteux obtiennent des scores beaucoup plus élevés.</a:t>
            </a:r>
            <a:br>
              <a:rPr lang="fr-FR" dirty="0"/>
            </a:br>
            <a:r>
              <a:rPr lang="fr-FR" dirty="0"/>
              <a:t>Cela montre que la performance financière ne dépend pas uniquement du budget, mais d’un ensemble de facteurs comme le genre, la popularité et la qualité perçue."*</a:t>
            </a:r>
          </a:p>
          <a:p>
            <a:br>
              <a:rPr lang="fr-FR" dirty="0"/>
            </a:br>
            <a:endParaRPr lang="fr-FR" dirty="0"/>
          </a:p>
          <a:p>
            <a:r>
              <a:rPr lang="fr-FR" b="1" dirty="0"/>
              <a:t>🎤 Version courte (15–18 secondes)</a:t>
            </a:r>
          </a:p>
          <a:p>
            <a:r>
              <a:rPr lang="fr-FR" i="1" dirty="0"/>
              <a:t>"Ici, on observe que les revenus ne suivent pas toujours la logique des budgets : certains genres rapportent beaucoup avec peu d’investissement, et certains films très coûteux obtiennent des scores moyens.</a:t>
            </a:r>
            <a:br>
              <a:rPr lang="fr-FR" i="1" dirty="0"/>
            </a:br>
            <a:r>
              <a:rPr lang="fr-FR" i="1" dirty="0"/>
              <a:t>Les revenus augmentent nettement à partir de 2016, mais la qualité n’évolue pas forcément dans le même sens.</a:t>
            </a:r>
            <a:br>
              <a:rPr lang="fr-FR" i="1" dirty="0"/>
            </a:br>
            <a:r>
              <a:rPr lang="fr-FR" i="1" dirty="0"/>
              <a:t>Cette slide montre donc que budget, score et revenu ne sont pas parfaitement corrélés."</a:t>
            </a:r>
            <a:endParaRPr lang="fr-FR" dirty="0"/>
          </a:p>
          <a:p>
            <a:endParaRPr lang="fr-FR" dirty="0"/>
          </a:p>
        </p:txBody>
      </p:sp>
    </p:spTree>
    <p:extLst>
      <p:ext uri="{BB962C8B-B14F-4D97-AF65-F5344CB8AC3E}">
        <p14:creationId xmlns:p14="http://schemas.microsoft.com/office/powerpoint/2010/main" val="2794431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8B4D0564-7221-4467-728A-835FA466761C}"/>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E105FFC9-FFB5-06FC-1A75-97E2563033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9F976573-7DC7-4CAF-2CE7-78ED07EBF0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i="1" dirty="0"/>
              <a:t>"L’analyse du catalogue Netflix met en évidence un écosystème riche mais déséquilibré.</a:t>
            </a:r>
            <a:br>
              <a:rPr lang="fr-FR" i="1" dirty="0"/>
            </a:br>
            <a:r>
              <a:rPr lang="fr-FR" i="1" dirty="0"/>
              <a:t>Le catalogue reste très centré sur les films, avec une forte domination des productions américaines, alors que d’autres régions restent sous-représentées. La qualité moyenne se situe autour de 66, et les contenus les plus populaires ne sont pas toujours ceux produits en plus grande quantité. Par ailleurs, la relation entre budget, score et performance financière se révèle non linéaire, montrant que les investissements les plus élevés ne garantissent pas un meilleur retour."</a:t>
            </a:r>
            <a:endParaRPr lang="fr-FR" dirty="0"/>
          </a:p>
          <a:p>
            <a:br>
              <a:rPr lang="fr-FR" dirty="0"/>
            </a:br>
            <a:r>
              <a:rPr lang="fr-FR" dirty="0"/>
              <a:t>l</a:t>
            </a:r>
            <a:r>
              <a:rPr lang="fr-FR" i="1" dirty="0"/>
              <a:t>’enjeu pour Netflix n’est plus seulement d’ajouter du contenu, mais d’en améliorer l’équilibre, la qualité et la rentabilité pour répondre de manière plus durable aux attentes des utilisateurs."</a:t>
            </a:r>
            <a:endParaRPr lang="fr-FR" dirty="0"/>
          </a:p>
          <a:p>
            <a:endParaRPr lang="fr-FR" dirty="0"/>
          </a:p>
        </p:txBody>
      </p:sp>
    </p:spTree>
    <p:extLst>
      <p:ext uri="{BB962C8B-B14F-4D97-AF65-F5344CB8AC3E}">
        <p14:creationId xmlns:p14="http://schemas.microsoft.com/office/powerpoint/2010/main" val="2357823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2545E683-DD3D-D257-2164-BFDBC300DD95}"/>
            </a:ext>
          </a:extLst>
        </p:cNvPr>
        <p:cNvGrpSpPr/>
        <p:nvPr/>
      </p:nvGrpSpPr>
      <p:grpSpPr>
        <a:xfrm>
          <a:off x="0" y="0"/>
          <a:ext cx="0" cy="0"/>
          <a:chOff x="0" y="0"/>
          <a:chExt cx="0" cy="0"/>
        </a:xfrm>
      </p:grpSpPr>
      <p:sp>
        <p:nvSpPr>
          <p:cNvPr id="60" name="Google Shape;60;g3911296c280_1_0:notes">
            <a:extLst>
              <a:ext uri="{FF2B5EF4-FFF2-40B4-BE49-F238E27FC236}">
                <a16:creationId xmlns:a16="http://schemas.microsoft.com/office/drawing/2014/main" id="{0BAEF9F9-EE75-32B2-E8CE-6079AC03A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911296c280_1_0:notes">
            <a:extLst>
              <a:ext uri="{FF2B5EF4-FFF2-40B4-BE49-F238E27FC236}">
                <a16:creationId xmlns:a16="http://schemas.microsoft.com/office/drawing/2014/main" id="{D66A0844-336D-F224-71D9-59A6DC6A42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fr-FR" i="1" dirty="0"/>
              <a:t>"L’analyse du catalogue Netflix met en évidence un écosystème riche mais déséquilibré.</a:t>
            </a:r>
            <a:br>
              <a:rPr lang="fr-FR" i="1" dirty="0"/>
            </a:br>
            <a:r>
              <a:rPr lang="fr-FR" i="1" dirty="0"/>
              <a:t>Le catalogue reste très centré sur les films, avec une forte domination des productions américaines, alors que d’autres régions restent sous-représentées. La qualité moyenne se situe autour de 66, et les contenus les plus populaires ne sont pas toujours ceux produits en plus grande quantité. Par ailleurs, la relation entre budget, score et performance financière se révèle non linéaire, montrant que les investissements les plus élevés ne garantissent pas un meilleur retour."</a:t>
            </a:r>
            <a:endParaRPr lang="fr-FR" dirty="0"/>
          </a:p>
          <a:p>
            <a:br>
              <a:rPr lang="fr-FR" dirty="0"/>
            </a:br>
            <a:r>
              <a:rPr lang="fr-FR" dirty="0"/>
              <a:t>l</a:t>
            </a:r>
            <a:r>
              <a:rPr lang="fr-FR" i="1" dirty="0"/>
              <a:t>’enjeu pour Netflix n’est plus seulement d’ajouter du contenu, mais d’en améliorer l’équilibre, la qualité et la rentabilité pour répondre de manière plus durable aux attentes des utilisateurs."</a:t>
            </a:r>
            <a:endParaRPr lang="fr-FR" dirty="0"/>
          </a:p>
          <a:p>
            <a:endParaRPr lang="fr-FR" dirty="0"/>
          </a:p>
        </p:txBody>
      </p:sp>
    </p:spTree>
    <p:extLst>
      <p:ext uri="{BB962C8B-B14F-4D97-AF65-F5344CB8AC3E}">
        <p14:creationId xmlns:p14="http://schemas.microsoft.com/office/powerpoint/2010/main" val="1243268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BD8C48EA-DABE-2C19-E2C3-9157E99FD011}"/>
            </a:ext>
          </a:extLst>
        </p:cNvPr>
        <p:cNvGrpSpPr/>
        <p:nvPr/>
      </p:nvGrpSpPr>
      <p:grpSpPr>
        <a:xfrm>
          <a:off x="0" y="0"/>
          <a:ext cx="0" cy="0"/>
          <a:chOff x="0" y="0"/>
          <a:chExt cx="0" cy="0"/>
        </a:xfrm>
      </p:grpSpPr>
      <p:sp>
        <p:nvSpPr>
          <p:cNvPr id="256" name="Google Shape;256;g3a928dff3e3_0_630:notes">
            <a:extLst>
              <a:ext uri="{FF2B5EF4-FFF2-40B4-BE49-F238E27FC236}">
                <a16:creationId xmlns:a16="http://schemas.microsoft.com/office/drawing/2014/main" id="{7663BB85-18C3-7BAF-B98A-331294BA7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g3a928dff3e3_0_630:notes">
            <a:extLst>
              <a:ext uri="{FF2B5EF4-FFF2-40B4-BE49-F238E27FC236}">
                <a16:creationId xmlns:a16="http://schemas.microsoft.com/office/drawing/2014/main" id="{7D1DEA99-F551-AE61-4734-921503A052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30967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2398B5-B013-FF4F-040A-6AECAAF97E62}"/>
              </a:ext>
            </a:extLst>
          </p:cNvPr>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A44150D7-BB2F-8B95-54E9-211D173EE4F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FEC0111-2F51-03CC-A9DF-1C2E36188917}"/>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E1743767-5C19-B27C-7096-7195E6AD6A98}"/>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67A5ED22-1631-013B-8552-ACD3808AAF83}"/>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2730730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1AE8F6-1A6C-9363-E9B1-5F6D302D1C8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8F68C4F-C0F7-6C2C-3A44-438315F6528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B508D5E-366C-5413-2BDD-67B74559CA8A}"/>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3E18D4A4-DF17-378A-21B2-4B0A50574115}"/>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92BC98A0-4B00-52D1-5D94-23D8359FB3CA}"/>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119382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192084-33FE-FE9B-A828-ED2DFE3699B1}"/>
              </a:ext>
            </a:extLst>
          </p:cNvPr>
          <p:cNvSpPr>
            <a:spLocks noGrp="1"/>
          </p:cNvSpPr>
          <p:nvPr>
            <p:ph type="title"/>
          </p:nvPr>
        </p:nvSpPr>
        <p:spPr>
          <a:xfrm>
            <a:off x="623888" y="1282304"/>
            <a:ext cx="7886700" cy="2139553"/>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A845E067-18F7-2C54-B325-EFB377F3123D}"/>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45D31BA-1BC4-FEF1-3B74-D572243A99BE}"/>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F8D79E0F-9C46-B05E-A2A0-5723EFBFF144}"/>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BB20BD59-160A-4413-CC36-D6D88484208E}"/>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235930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1C7865-EDE6-2130-4264-D26ECBDEDD5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4774E37-BCF0-8425-09B3-14A1F3C52519}"/>
              </a:ext>
            </a:extLst>
          </p:cNvPr>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342CFF9-FAFE-F9F3-903E-8C8CE3075D39}"/>
              </a:ext>
            </a:extLst>
          </p:cNvPr>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4F1AF96-FD02-241B-D25D-E9E26D8BC053}"/>
              </a:ext>
            </a:extLst>
          </p:cNvPr>
          <p:cNvSpPr>
            <a:spLocks noGrp="1"/>
          </p:cNvSpPr>
          <p:nvPr>
            <p:ph type="dt" sz="half" idx="10"/>
          </p:nvPr>
        </p:nvSpPr>
        <p:spPr/>
        <p:txBody>
          <a:bodyPr/>
          <a:lstStyle/>
          <a:p>
            <a:endParaRPr lang="en-US" dirty="0"/>
          </a:p>
        </p:txBody>
      </p:sp>
      <p:sp>
        <p:nvSpPr>
          <p:cNvPr id="6" name="Espace réservé du pied de page 5">
            <a:extLst>
              <a:ext uri="{FF2B5EF4-FFF2-40B4-BE49-F238E27FC236}">
                <a16:creationId xmlns:a16="http://schemas.microsoft.com/office/drawing/2014/main" id="{E071F78D-6D37-8817-72FB-B42E2909EBB6}"/>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AA88F779-6DA1-FE6C-F494-0258971C2373}"/>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70541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09158C-BE2D-6244-B1D5-EECFDCA0624C}"/>
              </a:ext>
            </a:extLst>
          </p:cNvPr>
          <p:cNvSpPr>
            <a:spLocks noGrp="1"/>
          </p:cNvSpPr>
          <p:nvPr>
            <p:ph type="title"/>
          </p:nvPr>
        </p:nvSpPr>
        <p:spPr>
          <a:xfrm>
            <a:off x="629841" y="273844"/>
            <a:ext cx="7886700" cy="99417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EFEE40F-13EB-D446-A7B0-2F6817F14CF7}"/>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DBB7BAE-FBC0-51BE-5FC2-8FDC7308A5D6}"/>
              </a:ext>
            </a:extLst>
          </p:cNvPr>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AD0F2F7-D0A2-979C-B424-C1B04491570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46B71AA-57B7-BA67-1615-62CF3459C55F}"/>
              </a:ext>
            </a:extLst>
          </p:cNvPr>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47082E4-F279-F0ED-4523-789330D20494}"/>
              </a:ext>
            </a:extLst>
          </p:cNvPr>
          <p:cNvSpPr>
            <a:spLocks noGrp="1"/>
          </p:cNvSpPr>
          <p:nvPr>
            <p:ph type="dt" sz="half" idx="10"/>
          </p:nvPr>
        </p:nvSpPr>
        <p:spPr/>
        <p:txBody>
          <a:bodyPr/>
          <a:lstStyle/>
          <a:p>
            <a:endParaRPr lang="en-US" dirty="0"/>
          </a:p>
        </p:txBody>
      </p:sp>
      <p:sp>
        <p:nvSpPr>
          <p:cNvPr id="8" name="Espace réservé du pied de page 7">
            <a:extLst>
              <a:ext uri="{FF2B5EF4-FFF2-40B4-BE49-F238E27FC236}">
                <a16:creationId xmlns:a16="http://schemas.microsoft.com/office/drawing/2014/main" id="{9B816650-06DB-CBBE-080C-0D4D6CC71A2B}"/>
              </a:ext>
            </a:extLst>
          </p:cNvPr>
          <p:cNvSpPr>
            <a:spLocks noGrp="1"/>
          </p:cNvSpPr>
          <p:nvPr>
            <p:ph type="ftr" sz="quarter" idx="11"/>
          </p:nvPr>
        </p:nvSpPr>
        <p:spPr/>
        <p:txBody>
          <a:bodyPr/>
          <a:lstStyle/>
          <a:p>
            <a:endParaRPr lang="en-US" dirty="0"/>
          </a:p>
        </p:txBody>
      </p:sp>
      <p:sp>
        <p:nvSpPr>
          <p:cNvPr id="9" name="Espace réservé du numéro de diapositive 8">
            <a:extLst>
              <a:ext uri="{FF2B5EF4-FFF2-40B4-BE49-F238E27FC236}">
                <a16:creationId xmlns:a16="http://schemas.microsoft.com/office/drawing/2014/main" id="{B316DA2F-5AC0-7091-82DF-6F23378D90BA}"/>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4091504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52F8A5-3A32-BF4B-2D52-53725F30B2C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25C7281-AF94-3C71-A3E6-7093BD793B85}"/>
              </a:ext>
            </a:extLst>
          </p:cNvPr>
          <p:cNvSpPr>
            <a:spLocks noGrp="1"/>
          </p:cNvSpPr>
          <p:nvPr>
            <p:ph type="dt" sz="half" idx="10"/>
          </p:nvPr>
        </p:nvSpPr>
        <p:spPr/>
        <p:txBody>
          <a:bodyPr/>
          <a:lstStyle/>
          <a:p>
            <a:endParaRPr lang="en-US" dirty="0"/>
          </a:p>
        </p:txBody>
      </p:sp>
      <p:sp>
        <p:nvSpPr>
          <p:cNvPr id="4" name="Espace réservé du pied de page 3">
            <a:extLst>
              <a:ext uri="{FF2B5EF4-FFF2-40B4-BE49-F238E27FC236}">
                <a16:creationId xmlns:a16="http://schemas.microsoft.com/office/drawing/2014/main" id="{2B54815E-31BC-5EF8-2B67-D624FF75E94F}"/>
              </a:ext>
            </a:extLst>
          </p:cNvPr>
          <p:cNvSpPr>
            <a:spLocks noGrp="1"/>
          </p:cNvSpPr>
          <p:nvPr>
            <p:ph type="ftr" sz="quarter" idx="11"/>
          </p:nvPr>
        </p:nvSpPr>
        <p:spPr/>
        <p:txBody>
          <a:bodyPr/>
          <a:lstStyle/>
          <a:p>
            <a:endParaRPr lang="en-US" dirty="0"/>
          </a:p>
        </p:txBody>
      </p:sp>
      <p:sp>
        <p:nvSpPr>
          <p:cNvPr id="5" name="Espace réservé du numéro de diapositive 4">
            <a:extLst>
              <a:ext uri="{FF2B5EF4-FFF2-40B4-BE49-F238E27FC236}">
                <a16:creationId xmlns:a16="http://schemas.microsoft.com/office/drawing/2014/main" id="{58684747-B991-2B88-B2FE-484C1C185876}"/>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428471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67FCFB4-65BF-3D63-5275-A0C10010BCCD}"/>
              </a:ext>
            </a:extLst>
          </p:cNvPr>
          <p:cNvSpPr>
            <a:spLocks noGrp="1"/>
          </p:cNvSpPr>
          <p:nvPr>
            <p:ph type="dt" sz="half" idx="10"/>
          </p:nvPr>
        </p:nvSpPr>
        <p:spPr/>
        <p:txBody>
          <a:bodyPr/>
          <a:lstStyle/>
          <a:p>
            <a:endParaRPr lang="en-US" dirty="0"/>
          </a:p>
        </p:txBody>
      </p:sp>
      <p:sp>
        <p:nvSpPr>
          <p:cNvPr id="3" name="Espace réservé du pied de page 2">
            <a:extLst>
              <a:ext uri="{FF2B5EF4-FFF2-40B4-BE49-F238E27FC236}">
                <a16:creationId xmlns:a16="http://schemas.microsoft.com/office/drawing/2014/main" id="{05E80640-5F56-56CE-E88C-1E7B2B1CDE0B}"/>
              </a:ext>
            </a:extLst>
          </p:cNvPr>
          <p:cNvSpPr>
            <a:spLocks noGrp="1"/>
          </p:cNvSpPr>
          <p:nvPr>
            <p:ph type="ftr" sz="quarter" idx="1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813BB69A-9033-D1BF-16B3-F98BFA5FDA80}"/>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1024672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CE26A9-399D-7A09-36FA-88AB693C09BC}"/>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B0318791-3050-1A94-90D4-B49A421C0E5D}"/>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B2A1035-D197-1ED9-D998-5A4C36F2233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04F344D-C383-2CC9-F8B0-094A540E91CB}"/>
              </a:ext>
            </a:extLst>
          </p:cNvPr>
          <p:cNvSpPr>
            <a:spLocks noGrp="1"/>
          </p:cNvSpPr>
          <p:nvPr>
            <p:ph type="dt" sz="half" idx="10"/>
          </p:nvPr>
        </p:nvSpPr>
        <p:spPr/>
        <p:txBody>
          <a:bodyPr/>
          <a:lstStyle/>
          <a:p>
            <a:endParaRPr lang="en-US" dirty="0"/>
          </a:p>
        </p:txBody>
      </p:sp>
      <p:sp>
        <p:nvSpPr>
          <p:cNvPr id="6" name="Espace réservé du pied de page 5">
            <a:extLst>
              <a:ext uri="{FF2B5EF4-FFF2-40B4-BE49-F238E27FC236}">
                <a16:creationId xmlns:a16="http://schemas.microsoft.com/office/drawing/2014/main" id="{0DB03805-4766-3631-6F62-53B5A8A0DCD8}"/>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44CEE998-776D-5074-CCFA-5552D6FC4716}"/>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4168547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85EDE6-63EA-A5C5-439F-5A7892EB8339}"/>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489BBDE8-0CCB-9A1B-22D9-E8C2CB93AA49}"/>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id="{7D8CDA6B-8D9C-5A25-2910-970E014E50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474BE2E-9037-7C4C-038A-4B41010425DF}"/>
              </a:ext>
            </a:extLst>
          </p:cNvPr>
          <p:cNvSpPr>
            <a:spLocks noGrp="1"/>
          </p:cNvSpPr>
          <p:nvPr>
            <p:ph type="dt" sz="half" idx="10"/>
          </p:nvPr>
        </p:nvSpPr>
        <p:spPr/>
        <p:txBody>
          <a:bodyPr/>
          <a:lstStyle/>
          <a:p>
            <a:endParaRPr lang="en-US" dirty="0"/>
          </a:p>
        </p:txBody>
      </p:sp>
      <p:sp>
        <p:nvSpPr>
          <p:cNvPr id="6" name="Espace réservé du pied de page 5">
            <a:extLst>
              <a:ext uri="{FF2B5EF4-FFF2-40B4-BE49-F238E27FC236}">
                <a16:creationId xmlns:a16="http://schemas.microsoft.com/office/drawing/2014/main" id="{94731A0D-E1EB-3D75-5586-847981686C41}"/>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5D6F7711-0C1E-A379-7A07-9DDD9A5E0532}"/>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129311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F075EB-DA7F-9897-4C8B-4A47B17B82A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2E3D7C0-429A-0568-C0B3-6E6CC0AE4E6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B13F7C8-2F2A-CE1C-2B99-7CD906802496}"/>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109C9FB3-B7E1-C060-3E3E-965B3D8A7B24}"/>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047A6BEE-325A-E834-B39D-64E621A50B97}"/>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3508154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8A99777-5CEF-68F5-2F94-3B12EC626CFA}"/>
              </a:ext>
            </a:extLst>
          </p:cNvPr>
          <p:cNvSpPr>
            <a:spLocks noGrp="1"/>
          </p:cNvSpPr>
          <p:nvPr>
            <p:ph type="title" orient="vert"/>
          </p:nvPr>
        </p:nvSpPr>
        <p:spPr>
          <a:xfrm>
            <a:off x="6543675" y="273844"/>
            <a:ext cx="1971675" cy="4358879"/>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22A54AF-DA1C-F163-A86D-BB85175A9646}"/>
              </a:ext>
            </a:extLst>
          </p:cNvPr>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F4EF43F-F8FB-E3A8-116D-928671F17141}"/>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8B0735EF-AAC2-30B1-AAB4-AE4D5D0ADEE4}"/>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17C771F1-1B2C-BBDF-E427-18768DD1AAFE}"/>
              </a:ext>
            </a:extLst>
          </p:cNvPr>
          <p:cNvSpPr>
            <a:spLocks noGrp="1"/>
          </p:cNvSpPr>
          <p:nvPr>
            <p:ph type="sldNum" sz="quarter" idx="12"/>
          </p:nvPr>
        </p:nvSpPr>
        <p:spPr/>
        <p:txBody>
          <a:body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3131778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2241462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38955C9-78F8-1AFB-471C-65519C8E72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3DC5358-14EB-96CC-7E34-BAAA995F2312}"/>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33425F-AE64-72E4-F93F-6EF9FCB738F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endParaRPr lang="en-US" dirty="0"/>
          </a:p>
        </p:txBody>
      </p:sp>
      <p:sp>
        <p:nvSpPr>
          <p:cNvPr id="5" name="Espace réservé du pied de page 4">
            <a:extLst>
              <a:ext uri="{FF2B5EF4-FFF2-40B4-BE49-F238E27FC236}">
                <a16:creationId xmlns:a16="http://schemas.microsoft.com/office/drawing/2014/main" id="{A43A6683-375A-AD28-73F7-6302A13232B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Espace réservé du numéro de diapositive 5">
            <a:extLst>
              <a:ext uri="{FF2B5EF4-FFF2-40B4-BE49-F238E27FC236}">
                <a16:creationId xmlns:a16="http://schemas.microsoft.com/office/drawing/2014/main" id="{1554B698-7ED1-98DC-5BCD-AC3461E8EFB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00000000-1234-1234-1234-123412341234}" type="slidenum">
              <a:rPr lang="fr-FR" smtClean="0"/>
              <a:pPr/>
              <a:t>‹N°›</a:t>
            </a:fld>
            <a:endParaRPr lang="fr-FR" dirty="0"/>
          </a:p>
        </p:txBody>
      </p:sp>
    </p:spTree>
    <p:extLst>
      <p:ext uri="{BB962C8B-B14F-4D97-AF65-F5344CB8AC3E}">
        <p14:creationId xmlns:p14="http://schemas.microsoft.com/office/powerpoint/2010/main" val="42984630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jp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54"/>
        <p:cNvGrpSpPr/>
        <p:nvPr/>
      </p:nvGrpSpPr>
      <p:grpSpPr>
        <a:xfrm>
          <a:off x="0" y="0"/>
          <a:ext cx="0" cy="0"/>
          <a:chOff x="0" y="0"/>
          <a:chExt cx="0" cy="0"/>
        </a:xfrm>
      </p:grpSpPr>
      <p:pic>
        <p:nvPicPr>
          <p:cNvPr id="8" name="Image 7" descr="Une image contenant flou, Caractère coloré, Magenta, obscurité&#10;&#10;Le contenu généré par l’IA peut être incorrect.">
            <a:extLst>
              <a:ext uri="{FF2B5EF4-FFF2-40B4-BE49-F238E27FC236}">
                <a16:creationId xmlns:a16="http://schemas.microsoft.com/office/drawing/2014/main" id="{C15B1007-55E4-0580-1E34-217FD2CB2843}"/>
              </a:ext>
            </a:extLst>
          </p:cNvPr>
          <p:cNvPicPr>
            <a:picLocks noChangeAspect="1"/>
          </p:cNvPicPr>
          <p:nvPr/>
        </p:nvPicPr>
        <p:blipFill>
          <a:blip r:embed="rId3"/>
          <a:stretch>
            <a:fillRect/>
          </a:stretch>
        </p:blipFill>
        <p:spPr>
          <a:xfrm>
            <a:off x="0" y="0"/>
            <a:ext cx="9144000" cy="5143500"/>
          </a:xfrm>
          <a:prstGeom prst="rect">
            <a:avLst/>
          </a:prstGeom>
        </p:spPr>
      </p:pic>
      <p:sp>
        <p:nvSpPr>
          <p:cNvPr id="57" name="Google Shape;57;p13"/>
          <p:cNvSpPr txBox="1">
            <a:spLocks noGrp="1"/>
          </p:cNvSpPr>
          <p:nvPr>
            <p:ph type="ctrTitle" idx="4294967295"/>
          </p:nvPr>
        </p:nvSpPr>
        <p:spPr>
          <a:xfrm>
            <a:off x="1113631" y="1431445"/>
            <a:ext cx="6916738" cy="925512"/>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fr" sz="3300" dirty="0">
                <a:solidFill>
                  <a:schemeClr val="bg1"/>
                </a:solidFill>
                <a:latin typeface="Inter SemiBold"/>
                <a:ea typeface="Inter SemiBold"/>
                <a:cs typeface="Inter SemiBold"/>
                <a:sym typeface="Inter SemiBold"/>
              </a:rPr>
              <a:t>Projet </a:t>
            </a:r>
            <a:r>
              <a:rPr lang="fr" dirty="0">
                <a:solidFill>
                  <a:schemeClr val="bg1"/>
                </a:solidFill>
                <a:latin typeface="Inter SemiBold"/>
                <a:ea typeface="Inter SemiBold"/>
                <a:cs typeface="Inter SemiBold"/>
                <a:sym typeface="Inter SemiBold"/>
              </a:rPr>
              <a:t> Netflix</a:t>
            </a:r>
            <a:endParaRPr sz="3300" dirty="0">
              <a:solidFill>
                <a:schemeClr val="bg1"/>
              </a:solidFill>
              <a:latin typeface="Inter SemiBold"/>
              <a:ea typeface="Inter SemiBold"/>
              <a:cs typeface="Inter SemiBold"/>
              <a:sym typeface="Inter SemiBold"/>
            </a:endParaRPr>
          </a:p>
        </p:txBody>
      </p:sp>
      <p:sp>
        <p:nvSpPr>
          <p:cNvPr id="58" name="Google Shape;58;p13"/>
          <p:cNvSpPr txBox="1">
            <a:spLocks noGrp="1"/>
          </p:cNvSpPr>
          <p:nvPr>
            <p:ph type="title" idx="4294967295"/>
          </p:nvPr>
        </p:nvSpPr>
        <p:spPr>
          <a:xfrm>
            <a:off x="394447" y="2663515"/>
            <a:ext cx="2987850" cy="215741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endParaRPr sz="1600" b="1" dirty="0">
              <a:solidFill>
                <a:srgbClr val="015955"/>
              </a:solidFill>
              <a:latin typeface="Inter"/>
              <a:ea typeface="Inter"/>
              <a:cs typeface="Inter"/>
              <a:sym typeface="Inter"/>
            </a:endParaRPr>
          </a:p>
          <a:p>
            <a:pPr marL="0" lvl="0" indent="0" algn="l" rtl="0">
              <a:lnSpc>
                <a:spcPct val="100000"/>
              </a:lnSpc>
              <a:spcBef>
                <a:spcPts val="0"/>
              </a:spcBef>
              <a:spcAft>
                <a:spcPts val="0"/>
              </a:spcAft>
              <a:buSzPts val="2800"/>
              <a:buNone/>
            </a:pPr>
            <a:endParaRPr sz="1600" b="1" dirty="0">
              <a:solidFill>
                <a:srgbClr val="015955"/>
              </a:solidFill>
              <a:latin typeface="Inter"/>
              <a:ea typeface="Inter"/>
              <a:cs typeface="Inter"/>
              <a:sym typeface="Inter"/>
            </a:endParaRPr>
          </a:p>
          <a:p>
            <a:pPr marL="0" lvl="0" indent="0" algn="l" rtl="0">
              <a:lnSpc>
                <a:spcPct val="100000"/>
              </a:lnSpc>
              <a:spcBef>
                <a:spcPts val="0"/>
              </a:spcBef>
              <a:spcAft>
                <a:spcPts val="0"/>
              </a:spcAft>
              <a:buSzPts val="2800"/>
              <a:buNone/>
            </a:pPr>
            <a:endParaRPr sz="1600" b="1" dirty="0">
              <a:solidFill>
                <a:srgbClr val="015955"/>
              </a:solidFill>
              <a:latin typeface="Inter"/>
              <a:ea typeface="Inter"/>
              <a:cs typeface="Inter"/>
              <a:sym typeface="Inter"/>
            </a:endParaRPr>
          </a:p>
          <a:p>
            <a:pPr>
              <a:lnSpc>
                <a:spcPct val="100000"/>
              </a:lnSpc>
              <a:spcBef>
                <a:spcPts val="0"/>
              </a:spcBef>
              <a:buSzPts val="5200"/>
            </a:pPr>
            <a:r>
              <a:rPr lang="fr-FR" sz="2400" dirty="0">
                <a:solidFill>
                  <a:schemeClr val="bg1"/>
                </a:solidFill>
                <a:latin typeface="Inter SemiBold"/>
                <a:ea typeface="Inter SemiBold"/>
                <a:sym typeface="Inter"/>
              </a:rPr>
              <a:t>Présenté par : </a:t>
            </a:r>
            <a:endParaRPr sz="2400" dirty="0">
              <a:solidFill>
                <a:schemeClr val="bg1"/>
              </a:solidFill>
              <a:latin typeface="Inter SemiBold"/>
              <a:ea typeface="Inter SemiBold"/>
              <a:sym typeface="Inter"/>
            </a:endParaRPr>
          </a:p>
          <a:p>
            <a:pPr>
              <a:lnSpc>
                <a:spcPct val="100000"/>
              </a:lnSpc>
              <a:spcBef>
                <a:spcPts val="0"/>
              </a:spcBef>
              <a:buSzPts val="5200"/>
            </a:pPr>
            <a:r>
              <a:rPr lang="fr" sz="2400" dirty="0">
                <a:solidFill>
                  <a:schemeClr val="bg1"/>
                </a:solidFill>
                <a:latin typeface="Inter SemiBold"/>
                <a:ea typeface="Inter SemiBold"/>
                <a:sym typeface="Inter"/>
              </a:rPr>
              <a:t>BENYAHIA Hana</a:t>
            </a:r>
            <a:endParaRPr sz="2400" dirty="0">
              <a:solidFill>
                <a:schemeClr val="bg1"/>
              </a:solidFill>
              <a:latin typeface="Inter SemiBold"/>
              <a:ea typeface="Inter SemiBold"/>
              <a:sym typeface="Inter"/>
            </a:endParaRPr>
          </a:p>
          <a:p>
            <a:pPr marL="0" lvl="0" indent="0" algn="l" rtl="0">
              <a:lnSpc>
                <a:spcPct val="100000"/>
              </a:lnSpc>
              <a:spcBef>
                <a:spcPts val="0"/>
              </a:spcBef>
              <a:spcAft>
                <a:spcPts val="0"/>
              </a:spcAft>
              <a:buSzPts val="2800"/>
              <a:buNone/>
            </a:pPr>
            <a:endParaRPr sz="2400" dirty="0">
              <a:solidFill>
                <a:srgbClr val="015955"/>
              </a:solidFill>
              <a:latin typeface="Inter"/>
              <a:ea typeface="Inter"/>
              <a:cs typeface="Inter"/>
              <a:sym typeface="Inter"/>
            </a:endParaRPr>
          </a:p>
        </p:txBody>
      </p:sp>
      <p:sp>
        <p:nvSpPr>
          <p:cNvPr id="2" name="Espace réservé du numéro de diapositive 1">
            <a:extLst>
              <a:ext uri="{FF2B5EF4-FFF2-40B4-BE49-F238E27FC236}">
                <a16:creationId xmlns:a16="http://schemas.microsoft.com/office/drawing/2014/main" id="{D1F5A2D3-58F1-BED0-9547-EB438A0FDB04}"/>
              </a:ext>
            </a:extLst>
          </p:cNvPr>
          <p:cNvSpPr>
            <a:spLocks noGrp="1"/>
          </p:cNvSpPr>
          <p:nvPr>
            <p:ph type="sldNum" sz="quarter" idx="12"/>
          </p:nvPr>
        </p:nvSpPr>
        <p:spPr>
          <a:xfrm>
            <a:off x="8608740" y="4761310"/>
            <a:ext cx="535259" cy="382190"/>
          </a:xfrm>
        </p:spPr>
        <p:txBody>
          <a:bodyPr/>
          <a:lstStyle/>
          <a:p>
            <a:fld id="{00000000-1234-1234-1234-123412341234}" type="slidenum">
              <a:rPr lang="fr-FR" smtClean="0"/>
              <a:pPr/>
              <a:t>1</a:t>
            </a:fld>
            <a:endParaRPr lang="fr-FR" dirty="0"/>
          </a:p>
        </p:txBody>
      </p:sp>
      <p:pic>
        <p:nvPicPr>
          <p:cNvPr id="3" name="Google Shape;64;p14">
            <a:extLst>
              <a:ext uri="{FF2B5EF4-FFF2-40B4-BE49-F238E27FC236}">
                <a16:creationId xmlns:a16="http://schemas.microsoft.com/office/drawing/2014/main" id="{EAE7D861-E153-2AA3-8BF9-60BE5D90CC1A}"/>
              </a:ext>
            </a:extLst>
          </p:cNvPr>
          <p:cNvPicPr preferRelativeResize="0"/>
          <p:nvPr/>
        </p:nvPicPr>
        <p:blipFill rotWithShape="1">
          <a:blip r:embed="rId4">
            <a:alphaModFix/>
          </a:blip>
          <a:srcRect/>
          <a:stretch/>
        </p:blipFill>
        <p:spPr>
          <a:xfrm>
            <a:off x="294282" y="574739"/>
            <a:ext cx="1362635" cy="1100296"/>
          </a:xfrm>
          <a:prstGeom prst="rect">
            <a:avLst/>
          </a:prstGeom>
          <a:noFill/>
          <a:ln>
            <a:noFill/>
          </a:ln>
        </p:spPr>
      </p:pic>
      <p:sp>
        <p:nvSpPr>
          <p:cNvPr id="4" name="Google Shape;57;p13">
            <a:extLst>
              <a:ext uri="{FF2B5EF4-FFF2-40B4-BE49-F238E27FC236}">
                <a16:creationId xmlns:a16="http://schemas.microsoft.com/office/drawing/2014/main" id="{DE1E663F-3299-E5FE-1EC7-945A0061C3D7}"/>
              </a:ext>
            </a:extLst>
          </p:cNvPr>
          <p:cNvSpPr txBox="1">
            <a:spLocks/>
          </p:cNvSpPr>
          <p:nvPr/>
        </p:nvSpPr>
        <p:spPr>
          <a:xfrm>
            <a:off x="1656917" y="331149"/>
            <a:ext cx="6916738" cy="925512"/>
          </a:xfrm>
          <a:prstGeom prst="rect">
            <a:avLst/>
          </a:prstGeom>
          <a:noFill/>
          <a:ln>
            <a:noFill/>
          </a:ln>
        </p:spPr>
        <p:txBody>
          <a:bodyPr spcFirstLastPara="1" vert="horz" wrap="square" lIns="91425" tIns="91425" rIns="91425" bIns="91425" rtlCol="0" anchor="b"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lnSpc>
                <a:spcPct val="100000"/>
              </a:lnSpc>
              <a:spcBef>
                <a:spcPts val="0"/>
              </a:spcBef>
              <a:buSzPts val="5200"/>
            </a:pPr>
            <a:r>
              <a:rPr lang="fr-FR" sz="3200" dirty="0">
                <a:solidFill>
                  <a:schemeClr val="bg1"/>
                </a:solidFill>
                <a:latin typeface="Inter SemiBold"/>
                <a:ea typeface="Inter SemiBold"/>
                <a:cs typeface="Inter SemiBold"/>
                <a:sym typeface="Inter SemiBold"/>
              </a:rPr>
              <a:t>DATA ANALYSIS FULL STACK -14</a:t>
            </a:r>
          </a:p>
        </p:txBody>
      </p:sp>
      <p:sp>
        <p:nvSpPr>
          <p:cNvPr id="30" name="Rectangle : coins arrondis 29">
            <a:extLst>
              <a:ext uri="{FF2B5EF4-FFF2-40B4-BE49-F238E27FC236}">
                <a16:creationId xmlns:a16="http://schemas.microsoft.com/office/drawing/2014/main" id="{9E7A0966-1EC9-3E0B-CC6C-E5EA6FEF5C23}"/>
              </a:ext>
            </a:extLst>
          </p:cNvPr>
          <p:cNvSpPr/>
          <p:nvPr/>
        </p:nvSpPr>
        <p:spPr>
          <a:xfrm>
            <a:off x="3972232" y="4292829"/>
            <a:ext cx="1450438" cy="731455"/>
          </a:xfrm>
          <a:prstGeom prst="roundRect">
            <a:avLst/>
          </a:prstGeom>
          <a:solidFill>
            <a:srgbClr val="040207"/>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fr-FR" sz="800" dirty="0" err="1">
                <a:solidFill>
                  <a:schemeClr val="bg1">
                    <a:lumMod val="85000"/>
                  </a:schemeClr>
                </a:solidFill>
              </a:rPr>
              <a:t>Dataset</a:t>
            </a:r>
            <a:r>
              <a:rPr lang="fr-FR" sz="800" dirty="0">
                <a:solidFill>
                  <a:schemeClr val="bg1">
                    <a:lumMod val="85000"/>
                  </a:schemeClr>
                </a:solidFill>
              </a:rPr>
              <a:t> IMDB</a:t>
            </a:r>
          </a:p>
          <a:p>
            <a:pPr marL="285750" indent="-285750">
              <a:buFont typeface="Arial" panose="020B0604020202020204" pitchFamily="34" charset="0"/>
              <a:buChar char="•"/>
            </a:pPr>
            <a:r>
              <a:rPr lang="fr-FR" sz="800" dirty="0" err="1">
                <a:solidFill>
                  <a:schemeClr val="bg1">
                    <a:lumMod val="85000"/>
                  </a:schemeClr>
                </a:solidFill>
              </a:rPr>
              <a:t>Dataset</a:t>
            </a:r>
            <a:r>
              <a:rPr lang="fr-FR" sz="800" dirty="0">
                <a:solidFill>
                  <a:schemeClr val="bg1">
                    <a:lumMod val="85000"/>
                  </a:schemeClr>
                </a:solidFill>
              </a:rPr>
              <a:t> </a:t>
            </a:r>
            <a:r>
              <a:rPr lang="fr-FR" sz="800" dirty="0" err="1">
                <a:solidFill>
                  <a:schemeClr val="bg1">
                    <a:lumMod val="85000"/>
                  </a:schemeClr>
                </a:solidFill>
              </a:rPr>
              <a:t>Titles</a:t>
            </a:r>
            <a:endParaRPr lang="fr-FR" sz="800" dirty="0">
              <a:solidFill>
                <a:schemeClr val="bg1">
                  <a:lumMod val="85000"/>
                </a:schemeClr>
              </a:solidFill>
            </a:endParaRPr>
          </a:p>
        </p:txBody>
      </p:sp>
      <p:pic>
        <p:nvPicPr>
          <p:cNvPr id="31" name="Image 30">
            <a:extLst>
              <a:ext uri="{FF2B5EF4-FFF2-40B4-BE49-F238E27FC236}">
                <a16:creationId xmlns:a16="http://schemas.microsoft.com/office/drawing/2014/main" id="{3756B4C8-86BC-3C8F-2A76-0AC7553BB48A}"/>
              </a:ext>
            </a:extLst>
          </p:cNvPr>
          <p:cNvPicPr>
            <a:picLocks noChangeAspect="1"/>
          </p:cNvPicPr>
          <p:nvPr/>
        </p:nvPicPr>
        <p:blipFill>
          <a:blip r:embed="rId5"/>
          <a:stretch>
            <a:fillRect/>
          </a:stretch>
        </p:blipFill>
        <p:spPr>
          <a:xfrm>
            <a:off x="4080387" y="3458116"/>
            <a:ext cx="1177502" cy="705018"/>
          </a:xfrm>
          <a:prstGeom prst="rect">
            <a:avLst/>
          </a:prstGeom>
        </p:spPr>
      </p:pic>
      <p:pic>
        <p:nvPicPr>
          <p:cNvPr id="32" name="Image 31">
            <a:extLst>
              <a:ext uri="{FF2B5EF4-FFF2-40B4-BE49-F238E27FC236}">
                <a16:creationId xmlns:a16="http://schemas.microsoft.com/office/drawing/2014/main" id="{1ED13078-ED15-3726-B805-CE3E5131604E}"/>
              </a:ext>
            </a:extLst>
          </p:cNvPr>
          <p:cNvPicPr>
            <a:picLocks noChangeAspect="1"/>
          </p:cNvPicPr>
          <p:nvPr/>
        </p:nvPicPr>
        <p:blipFill>
          <a:blip r:embed="rId6"/>
          <a:stretch>
            <a:fillRect/>
          </a:stretch>
        </p:blipFill>
        <p:spPr>
          <a:xfrm>
            <a:off x="5887899" y="3442158"/>
            <a:ext cx="1246481" cy="731455"/>
          </a:xfrm>
          <a:prstGeom prst="rect">
            <a:avLst/>
          </a:prstGeom>
        </p:spPr>
      </p:pic>
      <p:pic>
        <p:nvPicPr>
          <p:cNvPr id="33" name="Image 32">
            <a:extLst>
              <a:ext uri="{FF2B5EF4-FFF2-40B4-BE49-F238E27FC236}">
                <a16:creationId xmlns:a16="http://schemas.microsoft.com/office/drawing/2014/main" id="{E555CCD2-C587-1AD3-970B-118D1E53852D}"/>
              </a:ext>
            </a:extLst>
          </p:cNvPr>
          <p:cNvPicPr>
            <a:picLocks noChangeAspect="1"/>
          </p:cNvPicPr>
          <p:nvPr/>
        </p:nvPicPr>
        <p:blipFill>
          <a:blip r:embed="rId7"/>
          <a:stretch>
            <a:fillRect/>
          </a:stretch>
        </p:blipFill>
        <p:spPr>
          <a:xfrm>
            <a:off x="7691041" y="3426200"/>
            <a:ext cx="1246481" cy="731455"/>
          </a:xfrm>
          <a:prstGeom prst="rect">
            <a:avLst/>
          </a:prstGeom>
        </p:spPr>
      </p:pic>
      <p:sp>
        <p:nvSpPr>
          <p:cNvPr id="34" name="Rectangle : coins arrondis 33">
            <a:extLst>
              <a:ext uri="{FF2B5EF4-FFF2-40B4-BE49-F238E27FC236}">
                <a16:creationId xmlns:a16="http://schemas.microsoft.com/office/drawing/2014/main" id="{CEA5D66E-8EED-7C97-34BE-B0AFBA2F105E}"/>
              </a:ext>
            </a:extLst>
          </p:cNvPr>
          <p:cNvSpPr/>
          <p:nvPr/>
        </p:nvSpPr>
        <p:spPr>
          <a:xfrm>
            <a:off x="5801929" y="4292829"/>
            <a:ext cx="1450438" cy="731455"/>
          </a:xfrm>
          <a:prstGeom prst="roundRect">
            <a:avLst/>
          </a:prstGeom>
          <a:solidFill>
            <a:srgbClr val="040207"/>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800" dirty="0">
                <a:solidFill>
                  <a:schemeClr val="bg1">
                    <a:lumMod val="85000"/>
                  </a:schemeClr>
                </a:solidFill>
              </a:rPr>
              <a:t>-Nettoyage des valeurs manquantes / Gestion des aberrations </a:t>
            </a:r>
          </a:p>
          <a:p>
            <a:r>
              <a:rPr lang="fr-FR" sz="800" dirty="0">
                <a:solidFill>
                  <a:schemeClr val="bg1">
                    <a:lumMod val="85000"/>
                  </a:schemeClr>
                </a:solidFill>
              </a:rPr>
              <a:t>-Vérification des doublons</a:t>
            </a:r>
          </a:p>
          <a:p>
            <a:r>
              <a:rPr lang="fr-FR" sz="800" dirty="0">
                <a:solidFill>
                  <a:schemeClr val="bg1">
                    <a:lumMod val="85000"/>
                  </a:schemeClr>
                </a:solidFill>
              </a:rPr>
              <a:t>-Export en tables propres</a:t>
            </a:r>
          </a:p>
        </p:txBody>
      </p:sp>
      <p:sp>
        <p:nvSpPr>
          <p:cNvPr id="35" name="Rectangle : coins arrondis 34">
            <a:extLst>
              <a:ext uri="{FF2B5EF4-FFF2-40B4-BE49-F238E27FC236}">
                <a16:creationId xmlns:a16="http://schemas.microsoft.com/office/drawing/2014/main" id="{3DBA81EB-164B-F652-8C09-9D04C65D838F}"/>
              </a:ext>
            </a:extLst>
          </p:cNvPr>
          <p:cNvSpPr/>
          <p:nvPr/>
        </p:nvSpPr>
        <p:spPr>
          <a:xfrm>
            <a:off x="7605071" y="4292829"/>
            <a:ext cx="1450438" cy="731455"/>
          </a:xfrm>
          <a:prstGeom prst="roundRect">
            <a:avLst/>
          </a:prstGeom>
          <a:solidFill>
            <a:srgbClr val="040207"/>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800" dirty="0">
                <a:solidFill>
                  <a:schemeClr val="bg1">
                    <a:lumMod val="85000"/>
                  </a:schemeClr>
                </a:solidFill>
              </a:rPr>
              <a:t>-Fusion</a:t>
            </a:r>
          </a:p>
          <a:p>
            <a:r>
              <a:rPr lang="fr-FR" sz="800" dirty="0">
                <a:solidFill>
                  <a:schemeClr val="bg1">
                    <a:lumMod val="85000"/>
                  </a:schemeClr>
                </a:solidFill>
              </a:rPr>
              <a:t>-Nettoyage </a:t>
            </a:r>
          </a:p>
          <a:p>
            <a:r>
              <a:rPr lang="fr-FR" sz="800" dirty="0">
                <a:solidFill>
                  <a:schemeClr val="bg1">
                    <a:lumMod val="85000"/>
                  </a:schemeClr>
                </a:solidFill>
              </a:rPr>
              <a:t>-Transformation</a:t>
            </a:r>
          </a:p>
          <a:p>
            <a:r>
              <a:rPr lang="fr-FR" sz="800" dirty="0">
                <a:solidFill>
                  <a:schemeClr val="bg1">
                    <a:lumMod val="85000"/>
                  </a:schemeClr>
                </a:solidFill>
              </a:rPr>
              <a:t>-Création Visuels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2"/>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213ECC24-82EB-575C-3B83-FC1113DB480B}"/>
              </a:ext>
            </a:extLst>
          </p:cNvPr>
          <p:cNvPicPr>
            <a:picLocks noChangeAspect="1"/>
          </p:cNvPicPr>
          <p:nvPr/>
        </p:nvPicPr>
        <p:blipFill>
          <a:blip r:embed="rId3"/>
          <a:stretch>
            <a:fillRect/>
          </a:stretch>
        </p:blipFill>
        <p:spPr>
          <a:xfrm>
            <a:off x="0" y="0"/>
            <a:ext cx="9144000" cy="5143500"/>
          </a:xfrm>
          <a:prstGeom prst="rect">
            <a:avLst/>
          </a:prstGeom>
        </p:spPr>
      </p:pic>
      <p:sp>
        <p:nvSpPr>
          <p:cNvPr id="63" name="Google Shape;63;p14"/>
          <p:cNvSpPr txBox="1">
            <a:spLocks noGrp="1"/>
          </p:cNvSpPr>
          <p:nvPr>
            <p:ph type="title"/>
          </p:nvPr>
        </p:nvSpPr>
        <p:spPr>
          <a:xfrm>
            <a:off x="925245" y="171217"/>
            <a:ext cx="5315100"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Contexte</a:t>
            </a:r>
            <a:endParaRPr sz="2500" i="0" u="sng" strike="noStrike" cap="none" dirty="0">
              <a:solidFill>
                <a:schemeClr val="bg1"/>
              </a:solidFill>
              <a:latin typeface="Inter SemiBold"/>
              <a:ea typeface="Inter SemiBold"/>
              <a:cs typeface="Inter SemiBold"/>
              <a:sym typeface="Inter SemiBold"/>
            </a:endParaRPr>
          </a:p>
        </p:txBody>
      </p:sp>
      <p:sp>
        <p:nvSpPr>
          <p:cNvPr id="67" name="Google Shape;67;p14"/>
          <p:cNvSpPr txBox="1">
            <a:spLocks noGrp="1"/>
          </p:cNvSpPr>
          <p:nvPr>
            <p:ph type="sldNum" idx="12"/>
          </p:nvPr>
        </p:nvSpPr>
        <p:spPr>
          <a:xfrm>
            <a:off x="4225708" y="48209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lt1"/>
                </a:solidFill>
              </a:rPr>
              <a:t>2</a:t>
            </a:fld>
            <a:endParaRPr dirty="0">
              <a:solidFill>
                <a:schemeClr val="lt1"/>
              </a:solidFill>
            </a:endParaRPr>
          </a:p>
        </p:txBody>
      </p:sp>
      <p:pic>
        <p:nvPicPr>
          <p:cNvPr id="64" name="Google Shape;64;p14"/>
          <p:cNvPicPr preferRelativeResize="0"/>
          <p:nvPr/>
        </p:nvPicPr>
        <p:blipFill rotWithShape="1">
          <a:blip r:embed="rId4">
            <a:alphaModFix/>
          </a:blip>
          <a:srcRect/>
          <a:stretch/>
        </p:blipFill>
        <p:spPr>
          <a:xfrm>
            <a:off x="225778" y="286399"/>
            <a:ext cx="576900" cy="385904"/>
          </a:xfrm>
          <a:prstGeom prst="rect">
            <a:avLst/>
          </a:prstGeom>
          <a:noFill/>
          <a:ln>
            <a:noFill/>
          </a:ln>
        </p:spPr>
      </p:pic>
      <p:sp>
        <p:nvSpPr>
          <p:cNvPr id="66" name="Google Shape;66;p14"/>
          <p:cNvSpPr txBox="1"/>
          <p:nvPr/>
        </p:nvSpPr>
        <p:spPr>
          <a:xfrm>
            <a:off x="362310" y="725276"/>
            <a:ext cx="7505784" cy="3938873"/>
          </a:xfrm>
          <a:prstGeom prst="rect">
            <a:avLst/>
          </a:prstGeom>
          <a:noFill/>
          <a:ln>
            <a:noFill/>
          </a:ln>
        </p:spPr>
        <p:txBody>
          <a:bodyPr spcFirstLastPara="1" wrap="square" lIns="91425" tIns="91425" rIns="91425" bIns="91425" anchor="t" anchorCtr="0">
            <a:noAutofit/>
          </a:bodyPr>
          <a:lstStyle/>
          <a:p>
            <a:r>
              <a:rPr lang="fr-FR" sz="1400" b="1" dirty="0">
                <a:solidFill>
                  <a:schemeClr val="bg1">
                    <a:lumMod val="75000"/>
                  </a:schemeClr>
                </a:solidFill>
              </a:rPr>
              <a:t>	Netflix</a:t>
            </a:r>
            <a:r>
              <a:rPr lang="fr-FR" sz="1400" dirty="0">
                <a:solidFill>
                  <a:schemeClr val="bg1">
                    <a:lumMod val="75000"/>
                  </a:schemeClr>
                </a:solidFill>
              </a:rPr>
              <a:t> est une </a:t>
            </a:r>
            <a:r>
              <a:rPr lang="fr-FR" sz="1400" dirty="0">
                <a:solidFill>
                  <a:schemeClr val="bg1"/>
                </a:solidFill>
              </a:rPr>
              <a:t>plateforme</a:t>
            </a:r>
            <a:r>
              <a:rPr lang="fr-FR" sz="1400" dirty="0">
                <a:solidFill>
                  <a:schemeClr val="bg1">
                    <a:lumMod val="75000"/>
                  </a:schemeClr>
                </a:solidFill>
              </a:rPr>
              <a:t> mondiale de streaming vidéo à la demande, qui met en relation des millions d’abonnés avec un vaste catalogue de films, séries et documentaires, produits ou diffusés dans de nombreux pays.</a:t>
            </a:r>
          </a:p>
          <a:p>
            <a:endParaRPr lang="fr-FR" sz="1400" dirty="0">
              <a:solidFill>
                <a:schemeClr val="bg1">
                  <a:lumMod val="75000"/>
                </a:schemeClr>
              </a:solidFill>
            </a:endParaRPr>
          </a:p>
          <a:p>
            <a:r>
              <a:rPr lang="fr-FR" sz="1400" dirty="0">
                <a:solidFill>
                  <a:schemeClr val="bg1">
                    <a:lumMod val="75000"/>
                  </a:schemeClr>
                </a:solidFill>
              </a:rPr>
              <a:t>Le </a:t>
            </a:r>
            <a:r>
              <a:rPr lang="fr-FR" sz="1400" dirty="0" err="1">
                <a:solidFill>
                  <a:schemeClr val="bg1">
                    <a:lumMod val="75000"/>
                  </a:schemeClr>
                </a:solidFill>
              </a:rPr>
              <a:t>dataset</a:t>
            </a:r>
            <a:r>
              <a:rPr lang="fr-FR" sz="1400" dirty="0">
                <a:solidFill>
                  <a:schemeClr val="bg1">
                    <a:lumMod val="75000"/>
                  </a:schemeClr>
                </a:solidFill>
              </a:rPr>
              <a:t> utilisé regroupe :</a:t>
            </a:r>
          </a:p>
          <a:p>
            <a:pPr lvl="1"/>
            <a:r>
              <a:rPr lang="fr-FR" sz="1400" dirty="0">
                <a:solidFill>
                  <a:schemeClr val="bg1">
                    <a:lumMod val="75000"/>
                  </a:schemeClr>
                </a:solidFill>
              </a:rPr>
              <a:t>🎥 Plusieurs milliers de titres (films, séries, documentaires)</a:t>
            </a:r>
          </a:p>
          <a:p>
            <a:pPr lvl="1"/>
            <a:r>
              <a:rPr lang="fr-FR" sz="1400" dirty="0">
                <a:solidFill>
                  <a:schemeClr val="bg1">
                    <a:lumMod val="75000"/>
                  </a:schemeClr>
                </a:solidFill>
              </a:rPr>
              <a:t>🌍 Une large couverture géographique, avec des productions issues de nombreux pays</a:t>
            </a:r>
          </a:p>
          <a:p>
            <a:pPr lvl="1"/>
            <a:r>
              <a:rPr lang="fr-FR" sz="1400" dirty="0">
                <a:solidFill>
                  <a:schemeClr val="bg1">
                    <a:lumMod val="75000"/>
                  </a:schemeClr>
                </a:solidFill>
              </a:rPr>
              <a:t>🎭 Des dizaines de genres (drame, comédie, action, animation, etc.)</a:t>
            </a:r>
          </a:p>
          <a:p>
            <a:pPr lvl="1"/>
            <a:r>
              <a:rPr lang="fr-FR" sz="1400" dirty="0">
                <a:solidFill>
                  <a:schemeClr val="bg1">
                    <a:lumMod val="75000"/>
                  </a:schemeClr>
                </a:solidFill>
              </a:rPr>
              <a:t>👥 Des milliers d’acteurs, réalisateurs et équipes artistiques</a:t>
            </a:r>
          </a:p>
          <a:p>
            <a:pPr lvl="1"/>
            <a:r>
              <a:rPr lang="fr-FR" sz="1400" dirty="0">
                <a:solidFill>
                  <a:schemeClr val="bg1">
                    <a:lumMod val="75000"/>
                  </a:schemeClr>
                </a:solidFill>
              </a:rPr>
              <a:t>📅 Une période d’observation concentrée (années récentes), reflétant la stratégie de croissance rapide de Netflix.</a:t>
            </a:r>
            <a:br>
              <a:rPr lang="fr-FR" sz="1400" dirty="0">
                <a:solidFill>
                  <a:schemeClr val="bg1">
                    <a:lumMod val="75000"/>
                  </a:schemeClr>
                </a:solidFill>
              </a:rPr>
            </a:br>
            <a:endParaRPr lang="fr-FR" sz="1400" dirty="0">
              <a:solidFill>
                <a:schemeClr val="bg1">
                  <a:lumMod val="75000"/>
                </a:schemeClr>
              </a:solidFill>
            </a:endParaRPr>
          </a:p>
          <a:p>
            <a:r>
              <a:rPr lang="fr-FR" sz="1400" dirty="0">
                <a:solidFill>
                  <a:schemeClr val="bg1">
                    <a:lumMod val="75000"/>
                  </a:schemeClr>
                </a:solidFill>
              </a:rPr>
              <a:t>Le </a:t>
            </a:r>
            <a:r>
              <a:rPr lang="fr-FR" sz="1400" dirty="0" err="1">
                <a:solidFill>
                  <a:schemeClr val="bg1">
                    <a:lumMod val="75000"/>
                  </a:schemeClr>
                </a:solidFill>
              </a:rPr>
              <a:t>dataset</a:t>
            </a:r>
            <a:r>
              <a:rPr lang="fr-FR" sz="1400" dirty="0">
                <a:solidFill>
                  <a:schemeClr val="bg1">
                    <a:lumMod val="75000"/>
                  </a:schemeClr>
                </a:solidFill>
              </a:rPr>
              <a:t> permet d’analyser l’ensemble de la chaîne de valeur du contenu Netflix :</a:t>
            </a:r>
          </a:p>
          <a:p>
            <a:pPr lvl="1"/>
            <a:r>
              <a:rPr lang="fr-FR" sz="1400" dirty="0">
                <a:solidFill>
                  <a:schemeClr val="bg1">
                    <a:lumMod val="75000"/>
                  </a:schemeClr>
                </a:solidFill>
              </a:rPr>
              <a:t>🎬 Production (réalisateurs, acteurs, pays)</a:t>
            </a:r>
          </a:p>
          <a:p>
            <a:pPr lvl="1"/>
            <a:r>
              <a:rPr lang="fr-FR" sz="1400" dirty="0">
                <a:solidFill>
                  <a:schemeClr val="bg1">
                    <a:lumMod val="75000"/>
                  </a:schemeClr>
                </a:solidFill>
              </a:rPr>
              <a:t>🗂️ Catégorisation (genres, formats)</a:t>
            </a:r>
          </a:p>
          <a:p>
            <a:pPr lvl="1"/>
            <a:r>
              <a:rPr lang="fr-FR" sz="1400" dirty="0">
                <a:solidFill>
                  <a:schemeClr val="bg1">
                    <a:lumMod val="75000"/>
                  </a:schemeClr>
                </a:solidFill>
              </a:rPr>
              <a:t>📅 Diffusion (année d’ajout sur la plateforme)</a:t>
            </a:r>
          </a:p>
          <a:p>
            <a:pPr lvl="1"/>
            <a:r>
              <a:rPr lang="fr-FR" sz="1400" dirty="0">
                <a:solidFill>
                  <a:schemeClr val="bg1">
                    <a:lumMod val="75000"/>
                  </a:schemeClr>
                </a:solidFill>
              </a:rPr>
              <a:t>⭐ Qualité perçue (notations, popularité)</a:t>
            </a:r>
          </a:p>
          <a:p>
            <a:pPr lvl="1"/>
            <a:r>
              <a:rPr lang="fr-FR" sz="1400" dirty="0">
                <a:solidFill>
                  <a:schemeClr val="bg1">
                    <a:lumMod val="75000"/>
                  </a:schemeClr>
                </a:solidFill>
              </a:rPr>
              <a:t>📈 Performance du catalogue (diversité, récurrence des collaborations)</a:t>
            </a:r>
          </a:p>
          <a:p>
            <a:pPr marL="0" lvl="0" indent="0" algn="l" rtl="0">
              <a:spcBef>
                <a:spcPts val="800"/>
              </a:spcBef>
              <a:spcAft>
                <a:spcPts val="0"/>
              </a:spcAft>
              <a:buNone/>
            </a:pPr>
            <a:endParaRPr sz="1400" dirty="0">
              <a:solidFill>
                <a:schemeClr val="bg1">
                  <a:lumMod val="75000"/>
                </a:schemeClr>
              </a:solidFill>
              <a:latin typeface="Abadi" panose="020B0604020104020204" pitchFamily="34" charset="0"/>
            </a:endParaRPr>
          </a:p>
          <a:p>
            <a:pPr marL="0" lvl="0" indent="0" algn="l" rtl="0">
              <a:spcBef>
                <a:spcPts val="0"/>
              </a:spcBef>
              <a:spcAft>
                <a:spcPts val="0"/>
              </a:spcAft>
              <a:buNone/>
            </a:pPr>
            <a:endParaRPr sz="1900" dirty="0">
              <a:solidFill>
                <a:schemeClr val="bg1">
                  <a:lumMod val="75000"/>
                </a:schemeClr>
              </a:solidFill>
              <a:latin typeface="Abadi" panose="020B0604020104020204" pitchFamily="34" charset="0"/>
            </a:endParaRPr>
          </a:p>
        </p:txBody>
      </p:sp>
      <p:sp>
        <p:nvSpPr>
          <p:cNvPr id="6" name="Espace réservé du numéro de diapositive 1">
            <a:extLst>
              <a:ext uri="{FF2B5EF4-FFF2-40B4-BE49-F238E27FC236}">
                <a16:creationId xmlns:a16="http://schemas.microsoft.com/office/drawing/2014/main" id="{C57274E6-2D5F-6BA1-19F0-83228ABF5FC3}"/>
              </a:ext>
            </a:extLst>
          </p:cNvPr>
          <p:cNvSpPr txBox="1">
            <a:spLocks/>
          </p:cNvSpPr>
          <p:nvPr/>
        </p:nvSpPr>
        <p:spPr>
          <a:xfrm>
            <a:off x="8598516" y="4855867"/>
            <a:ext cx="535259" cy="382190"/>
          </a:xfrm>
          <a:prstGeom prst="rect">
            <a:avLst/>
          </a:prstGeom>
        </p:spPr>
        <p:txBody>
          <a:bodyPr spcFirstLastPara="1" vert="horz" wrap="square" lIns="91425" tIns="91425" rIns="91425" bIns="91425" rtlCol="0" anchor="ctr" anchorCtr="0">
            <a:noAutofit/>
          </a:bodyPr>
          <a:lstStyle>
            <a:defPPr>
              <a:defRPr lang="fr-FR"/>
            </a:defPPr>
            <a:lvl1pPr marL="0" lvl="0" algn="r" defTabSz="914400" rtl="0" eaLnBrk="1" latinLnBrk="0" hangingPunct="1">
              <a:buNone/>
              <a:defRPr sz="900" kern="1200">
                <a:solidFill>
                  <a:schemeClr val="tx1">
                    <a:tint val="82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00000000-1234-1234-1234-123412341234}" type="slidenum">
              <a:rPr lang="fr-FR" smtClean="0"/>
              <a:pPr/>
              <a:t>2</a:t>
            </a:fld>
            <a:endParaRPr lang="fr-FR" dirty="0"/>
          </a:p>
        </p:txBody>
      </p:sp>
      <p:pic>
        <p:nvPicPr>
          <p:cNvPr id="7" name="Image 6" descr="Une image contenant Graphique, capture d’écran, Caractère coloré, rouge&#10;&#10;Le contenu généré par l’IA peut être incorrect.">
            <a:extLst>
              <a:ext uri="{FF2B5EF4-FFF2-40B4-BE49-F238E27FC236}">
                <a16:creationId xmlns:a16="http://schemas.microsoft.com/office/drawing/2014/main" id="{0DA3AFFD-D6E7-007B-4FEE-411A03FB78C5}"/>
              </a:ext>
            </a:extLst>
          </p:cNvPr>
          <p:cNvPicPr>
            <a:picLocks noChangeAspect="1"/>
          </p:cNvPicPr>
          <p:nvPr/>
        </p:nvPicPr>
        <p:blipFill>
          <a:blip r:embed="rId5"/>
          <a:stretch>
            <a:fillRect/>
          </a:stretch>
        </p:blipFill>
        <p:spPr>
          <a:xfrm>
            <a:off x="8477547" y="150980"/>
            <a:ext cx="535259" cy="5742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A2823655-BE94-1D6B-2457-02A71927C1E8}"/>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1A650944-A89C-7108-6739-9C360B37B158}"/>
              </a:ext>
            </a:extLst>
          </p:cNvPr>
          <p:cNvPicPr>
            <a:picLocks noChangeAspect="1"/>
          </p:cNvPicPr>
          <p:nvPr/>
        </p:nvPicPr>
        <p:blipFill>
          <a:blip r:embed="rId3"/>
          <a:stretch>
            <a:fillRect/>
          </a:stretch>
        </p:blipFill>
        <p:spPr>
          <a:xfrm>
            <a:off x="0" y="0"/>
            <a:ext cx="9144000" cy="5143500"/>
          </a:xfrm>
          <a:prstGeom prst="rect">
            <a:avLst/>
          </a:prstGeom>
        </p:spPr>
      </p:pic>
      <p:sp>
        <p:nvSpPr>
          <p:cNvPr id="63" name="Google Shape;63;p14">
            <a:extLst>
              <a:ext uri="{FF2B5EF4-FFF2-40B4-BE49-F238E27FC236}">
                <a16:creationId xmlns:a16="http://schemas.microsoft.com/office/drawing/2014/main" id="{1348669F-7CAF-8BDF-2E31-B6DC7A1E3896}"/>
              </a:ext>
            </a:extLst>
          </p:cNvPr>
          <p:cNvSpPr txBox="1">
            <a:spLocks noGrp="1"/>
          </p:cNvSpPr>
          <p:nvPr>
            <p:ph type="title"/>
          </p:nvPr>
        </p:nvSpPr>
        <p:spPr>
          <a:xfrm>
            <a:off x="985630" y="212801"/>
            <a:ext cx="5315100"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Objectif de l’Analyse </a:t>
            </a: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E8BD73F1-0B03-7E8F-DF32-D9AE13DC7D14}"/>
              </a:ext>
            </a:extLst>
          </p:cNvPr>
          <p:cNvSpPr txBox="1">
            <a:spLocks noGrp="1"/>
          </p:cNvSpPr>
          <p:nvPr>
            <p:ph type="sldNum" idx="12"/>
          </p:nvPr>
        </p:nvSpPr>
        <p:spPr>
          <a:xfrm>
            <a:off x="4225708" y="48209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3</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20B27FD8-D490-F354-B309-BD51BF4A7838}"/>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sp>
        <p:nvSpPr>
          <p:cNvPr id="66" name="Google Shape;66;p14">
            <a:extLst>
              <a:ext uri="{FF2B5EF4-FFF2-40B4-BE49-F238E27FC236}">
                <a16:creationId xmlns:a16="http://schemas.microsoft.com/office/drawing/2014/main" id="{F630F75F-C256-32AC-33C8-790174ED6A07}"/>
              </a:ext>
            </a:extLst>
          </p:cNvPr>
          <p:cNvSpPr txBox="1"/>
          <p:nvPr/>
        </p:nvSpPr>
        <p:spPr>
          <a:xfrm>
            <a:off x="362310" y="725276"/>
            <a:ext cx="7505784" cy="3938873"/>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Comprendre et évaluer le catalogue Netflix pour identifier les leviers d’optimisation du contenu.</a:t>
            </a:r>
            <a:endParaRPr lang="fr-FR" sz="1400" dirty="0">
              <a:solidFill>
                <a:schemeClr val="bg1"/>
              </a:solidFill>
            </a:endParaRPr>
          </a:p>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Analyser la composition du catalogue</a:t>
            </a:r>
            <a:r>
              <a:rPr lang="fr-FR" sz="1400" dirty="0">
                <a:solidFill>
                  <a:schemeClr val="bg1"/>
                </a:solidFill>
              </a:rPr>
              <a:t> (Films vs Séries, Genres, Volumes)</a:t>
            </a:r>
          </a:p>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Mesurer la qualité et la popularité</a:t>
            </a:r>
            <a:r>
              <a:rPr lang="fr-FR" sz="1400" dirty="0">
                <a:solidFill>
                  <a:schemeClr val="bg1"/>
                </a:solidFill>
              </a:rPr>
              <a:t> des contenus</a:t>
            </a:r>
          </a:p>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Étudier la diversité géographique</a:t>
            </a:r>
            <a:r>
              <a:rPr lang="fr-FR" sz="1400" dirty="0">
                <a:solidFill>
                  <a:schemeClr val="bg1"/>
                </a:solidFill>
              </a:rPr>
              <a:t> (origine des productions, domination US)</a:t>
            </a:r>
          </a:p>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Évaluer les tendances temporelles</a:t>
            </a:r>
            <a:r>
              <a:rPr lang="fr-FR" sz="1400" dirty="0">
                <a:solidFill>
                  <a:schemeClr val="bg1"/>
                </a:solidFill>
              </a:rPr>
              <a:t> (évolution du catalogue, pics d’activité)</a:t>
            </a:r>
          </a:p>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Cartographier acteurs &amp; réalisateurs clés</a:t>
            </a:r>
            <a:endParaRPr lang="fr-FR" sz="1400" dirty="0">
              <a:solidFill>
                <a:schemeClr val="bg1"/>
              </a:solidFill>
            </a:endParaRPr>
          </a:p>
          <a:p>
            <a:pPr marL="285750" indent="-285750">
              <a:buFont typeface="Arial" panose="020B0604020202020204" pitchFamily="34" charset="0"/>
              <a:buChar char="•"/>
            </a:pPr>
            <a:endParaRPr lang="fr-FR" sz="1400" b="1" dirty="0">
              <a:solidFill>
                <a:schemeClr val="bg1"/>
              </a:solidFill>
            </a:endParaRPr>
          </a:p>
          <a:p>
            <a:pPr marL="285750" indent="-285750">
              <a:buFont typeface="Arial" panose="020B0604020202020204" pitchFamily="34" charset="0"/>
              <a:buChar char="•"/>
            </a:pPr>
            <a:r>
              <a:rPr lang="fr-FR" sz="1400" b="1" dirty="0">
                <a:solidFill>
                  <a:schemeClr val="bg1"/>
                </a:solidFill>
              </a:rPr>
              <a:t>Analyser la performance économique</a:t>
            </a:r>
            <a:r>
              <a:rPr lang="fr-FR" sz="1400" dirty="0">
                <a:solidFill>
                  <a:schemeClr val="bg1"/>
                </a:solidFill>
              </a:rPr>
              <a:t> (Budgets vs Revenus vs Scores)</a:t>
            </a:r>
          </a:p>
          <a:p>
            <a:pPr marL="0" lvl="0" indent="0" algn="l" rtl="0">
              <a:spcBef>
                <a:spcPts val="800"/>
              </a:spcBef>
              <a:spcAft>
                <a:spcPts val="0"/>
              </a:spcAft>
              <a:buNone/>
            </a:pPr>
            <a:endParaRPr sz="1400" dirty="0">
              <a:solidFill>
                <a:schemeClr val="bg1"/>
              </a:solidFill>
              <a:latin typeface="Abadi" panose="020B0604020104020204" pitchFamily="34" charset="0"/>
            </a:endParaRPr>
          </a:p>
          <a:p>
            <a:pPr marL="0" lvl="0" indent="0" algn="l" rtl="0">
              <a:spcBef>
                <a:spcPts val="0"/>
              </a:spcBef>
              <a:spcAft>
                <a:spcPts val="0"/>
              </a:spcAft>
              <a:buNone/>
            </a:pPr>
            <a:endParaRPr sz="1900" dirty="0">
              <a:solidFill>
                <a:schemeClr val="bg1">
                  <a:lumMod val="75000"/>
                </a:schemeClr>
              </a:solidFill>
              <a:latin typeface="Abadi" panose="020B0604020104020204" pitchFamily="34" charset="0"/>
            </a:endParaRPr>
          </a:p>
        </p:txBody>
      </p:sp>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EB1F77A5-86F3-9A94-334E-8F3517A660B1}"/>
              </a:ext>
            </a:extLst>
          </p:cNvPr>
          <p:cNvPicPr>
            <a:picLocks noChangeAspect="1"/>
          </p:cNvPicPr>
          <p:nvPr/>
        </p:nvPicPr>
        <p:blipFill>
          <a:blip r:embed="rId5"/>
          <a:stretch>
            <a:fillRect/>
          </a:stretch>
        </p:blipFill>
        <p:spPr>
          <a:xfrm>
            <a:off x="8477547" y="150980"/>
            <a:ext cx="535259" cy="574296"/>
          </a:xfrm>
          <a:prstGeom prst="rect">
            <a:avLst/>
          </a:prstGeom>
        </p:spPr>
      </p:pic>
    </p:spTree>
    <p:extLst>
      <p:ext uri="{BB962C8B-B14F-4D97-AF65-F5344CB8AC3E}">
        <p14:creationId xmlns:p14="http://schemas.microsoft.com/office/powerpoint/2010/main" val="21856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D0B1BDE9-EEB0-3A5E-9D5F-6D99DC80FB39}"/>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96482319-0D95-A665-0E45-91EF4E4147E8}"/>
              </a:ext>
            </a:extLst>
          </p:cNvPr>
          <p:cNvPicPr>
            <a:picLocks noChangeAspect="1"/>
          </p:cNvPicPr>
          <p:nvPr/>
        </p:nvPicPr>
        <p:blipFill>
          <a:blip r:embed="rId3"/>
          <a:stretch>
            <a:fillRect/>
          </a:stretch>
        </p:blipFill>
        <p:spPr>
          <a:xfrm>
            <a:off x="0" y="-132082"/>
            <a:ext cx="9144000" cy="5275581"/>
          </a:xfrm>
          <a:prstGeom prst="rect">
            <a:avLst/>
          </a:prstGeom>
        </p:spPr>
      </p:pic>
      <p:sp>
        <p:nvSpPr>
          <p:cNvPr id="63" name="Google Shape;63;p14">
            <a:extLst>
              <a:ext uri="{FF2B5EF4-FFF2-40B4-BE49-F238E27FC236}">
                <a16:creationId xmlns:a16="http://schemas.microsoft.com/office/drawing/2014/main" id="{86ED2E55-E39B-82BF-6A25-386F8A41C531}"/>
              </a:ext>
            </a:extLst>
          </p:cNvPr>
          <p:cNvSpPr txBox="1">
            <a:spLocks noGrp="1"/>
          </p:cNvSpPr>
          <p:nvPr>
            <p:ph type="title"/>
          </p:nvPr>
        </p:nvSpPr>
        <p:spPr>
          <a:xfrm>
            <a:off x="985630" y="212801"/>
            <a:ext cx="5315100"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Vision Globale </a:t>
            </a:r>
            <a:br>
              <a:rPr lang="fr" sz="2500" dirty="0">
                <a:solidFill>
                  <a:schemeClr val="bg1"/>
                </a:solidFill>
                <a:latin typeface="Inter SemiBold"/>
                <a:ea typeface="Inter SemiBold"/>
                <a:cs typeface="Inter SemiBold"/>
                <a:sym typeface="Inter SemiBold"/>
              </a:rPr>
            </a:b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258C813D-ED8F-FA8D-4013-4FA74D250AB2}"/>
              </a:ext>
            </a:extLst>
          </p:cNvPr>
          <p:cNvSpPr txBox="1">
            <a:spLocks noGrp="1"/>
          </p:cNvSpPr>
          <p:nvPr>
            <p:ph type="sldNum" idx="12"/>
          </p:nvPr>
        </p:nvSpPr>
        <p:spPr>
          <a:xfrm>
            <a:off x="8566176" y="481211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4</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3A567332-0531-CC45-078B-47FEF0CED9C0}"/>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sp>
        <p:nvSpPr>
          <p:cNvPr id="66" name="Google Shape;66;p14">
            <a:extLst>
              <a:ext uri="{FF2B5EF4-FFF2-40B4-BE49-F238E27FC236}">
                <a16:creationId xmlns:a16="http://schemas.microsoft.com/office/drawing/2014/main" id="{D76F7859-1434-6128-43E9-CDBCCB95581E}"/>
              </a:ext>
            </a:extLst>
          </p:cNvPr>
          <p:cNvSpPr txBox="1"/>
          <p:nvPr/>
        </p:nvSpPr>
        <p:spPr>
          <a:xfrm>
            <a:off x="362310" y="787487"/>
            <a:ext cx="8650496" cy="3938873"/>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endParaRPr lang="fr-FR" sz="1400" b="1" dirty="0">
              <a:solidFill>
                <a:schemeClr val="bg1"/>
              </a:solidFill>
            </a:endParaRPr>
          </a:p>
          <a:p>
            <a:pPr marL="0" lvl="0" indent="0" algn="l" rtl="0">
              <a:spcBef>
                <a:spcPts val="0"/>
              </a:spcBef>
              <a:spcAft>
                <a:spcPts val="0"/>
              </a:spcAft>
              <a:buNone/>
            </a:pPr>
            <a:endParaRPr sz="1900" dirty="0">
              <a:solidFill>
                <a:schemeClr val="bg1">
                  <a:lumMod val="75000"/>
                </a:schemeClr>
              </a:solidFill>
              <a:latin typeface="Abadi" panose="020B0604020104020204" pitchFamily="34" charset="0"/>
            </a:endParaRPr>
          </a:p>
        </p:txBody>
      </p:sp>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2B317353-8202-54D7-1F66-5C8A47DAB58A}"/>
              </a:ext>
            </a:extLst>
          </p:cNvPr>
          <p:cNvPicPr>
            <a:picLocks noChangeAspect="1"/>
          </p:cNvPicPr>
          <p:nvPr/>
        </p:nvPicPr>
        <p:blipFill>
          <a:blip r:embed="rId5"/>
          <a:stretch>
            <a:fillRect/>
          </a:stretch>
        </p:blipFill>
        <p:spPr>
          <a:xfrm>
            <a:off x="8477547" y="150980"/>
            <a:ext cx="535259" cy="574296"/>
          </a:xfrm>
          <a:prstGeom prst="rect">
            <a:avLst/>
          </a:prstGeom>
        </p:spPr>
      </p:pic>
      <p:sp>
        <p:nvSpPr>
          <p:cNvPr id="2" name="Google Shape;108;p16">
            <a:extLst>
              <a:ext uri="{FF2B5EF4-FFF2-40B4-BE49-F238E27FC236}">
                <a16:creationId xmlns:a16="http://schemas.microsoft.com/office/drawing/2014/main" id="{C0FC5B59-B01D-89DE-ED63-97CF3C9D3F58}"/>
              </a:ext>
            </a:extLst>
          </p:cNvPr>
          <p:cNvSpPr/>
          <p:nvPr/>
        </p:nvSpPr>
        <p:spPr>
          <a:xfrm>
            <a:off x="5758208" y="767843"/>
            <a:ext cx="1342500" cy="750043"/>
          </a:xfrm>
          <a:prstGeom prst="roundRect">
            <a:avLst>
              <a:gd name="adj" fmla="val 16667"/>
            </a:avLst>
          </a:prstGeom>
          <a:solidFill>
            <a:schemeClr val="tx1"/>
          </a:solidFill>
          <a:ln>
            <a:noFill/>
            <a:prstDash val="sysDash"/>
            <a:headEnd type="none" w="sm" len="sm"/>
            <a:tailEnd type="none" w="sm" len="sm"/>
          </a:ln>
          <a:effectLst>
            <a:innerShdw blurRad="63500" dist="508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L="0" marR="0" lvl="0" indent="0" algn="ctr" rtl="0">
              <a:lnSpc>
                <a:spcPct val="100000"/>
              </a:lnSpc>
              <a:spcBef>
                <a:spcPts val="0"/>
              </a:spcBef>
              <a:spcAft>
                <a:spcPts val="0"/>
              </a:spcAft>
              <a:buNone/>
            </a:pPr>
            <a:r>
              <a:rPr lang="fr" sz="1050" b="1" dirty="0">
                <a:solidFill>
                  <a:schemeClr val="bg1">
                    <a:lumMod val="75000"/>
                  </a:schemeClr>
                </a:solidFill>
                <a:latin typeface="Abadi" panose="020B0604020104020204" pitchFamily="34" charset="0"/>
              </a:rPr>
              <a:t>🌍 </a:t>
            </a:r>
            <a:r>
              <a:rPr lang="fr" sz="1600" b="1" dirty="0">
                <a:solidFill>
                  <a:schemeClr val="bg1">
                    <a:lumMod val="75000"/>
                  </a:schemeClr>
                </a:solidFill>
                <a:latin typeface="Abadi" panose="020B0604020104020204" pitchFamily="34" charset="0"/>
              </a:rPr>
              <a:t>62</a:t>
            </a:r>
            <a:br>
              <a:rPr lang="fr" sz="1400" b="1" dirty="0">
                <a:solidFill>
                  <a:schemeClr val="bg1">
                    <a:lumMod val="75000"/>
                  </a:schemeClr>
                </a:solidFill>
                <a:latin typeface="Abadi" panose="020B0604020104020204" pitchFamily="34" charset="0"/>
              </a:rPr>
            </a:br>
            <a:r>
              <a:rPr lang="fr" sz="1400" dirty="0">
                <a:solidFill>
                  <a:schemeClr val="bg1">
                    <a:lumMod val="75000"/>
                  </a:schemeClr>
                </a:solidFill>
                <a:latin typeface="Abadi" panose="020B0604020104020204" pitchFamily="34" charset="0"/>
              </a:rPr>
              <a:t>P</a:t>
            </a:r>
            <a:r>
              <a:rPr lang="fr-FR" sz="1400" dirty="0">
                <a:solidFill>
                  <a:schemeClr val="bg1">
                    <a:lumMod val="75000"/>
                  </a:schemeClr>
                </a:solidFill>
                <a:latin typeface="Abadi" panose="020B0604020104020204" pitchFamily="34" charset="0"/>
              </a:rPr>
              <a:t>a</a:t>
            </a:r>
            <a:r>
              <a:rPr lang="fr" sz="1400" dirty="0">
                <a:solidFill>
                  <a:schemeClr val="bg1">
                    <a:lumMod val="75000"/>
                  </a:schemeClr>
                </a:solidFill>
                <a:latin typeface="Abadi" panose="020B0604020104020204" pitchFamily="34" charset="0"/>
              </a:rPr>
              <a:t>ys prodcuteurs</a:t>
            </a:r>
            <a:endParaRPr sz="1050" dirty="0">
              <a:solidFill>
                <a:schemeClr val="bg1">
                  <a:lumMod val="75000"/>
                </a:schemeClr>
              </a:solidFill>
              <a:latin typeface="Abadi" panose="020B0604020104020204" pitchFamily="34" charset="0"/>
            </a:endParaRPr>
          </a:p>
        </p:txBody>
      </p:sp>
      <p:sp>
        <p:nvSpPr>
          <p:cNvPr id="7" name="Google Shape;110;p16">
            <a:extLst>
              <a:ext uri="{FF2B5EF4-FFF2-40B4-BE49-F238E27FC236}">
                <a16:creationId xmlns:a16="http://schemas.microsoft.com/office/drawing/2014/main" id="{18DEF492-B3D6-D93A-A4E3-681CD69B98AF}"/>
              </a:ext>
            </a:extLst>
          </p:cNvPr>
          <p:cNvSpPr/>
          <p:nvPr/>
        </p:nvSpPr>
        <p:spPr>
          <a:xfrm>
            <a:off x="4082798" y="796494"/>
            <a:ext cx="1313100" cy="717386"/>
          </a:xfrm>
          <a:prstGeom prst="roundRect">
            <a:avLst>
              <a:gd name="adj" fmla="val 16667"/>
            </a:avLst>
          </a:prstGeom>
          <a:solidFill>
            <a:schemeClr val="tx1"/>
          </a:solidFill>
          <a:ln>
            <a:noFill/>
            <a:prstDash val="sysDash"/>
            <a:headEnd type="none" w="sm" len="sm"/>
            <a:tailEnd type="none" w="sm" len="sm"/>
          </a:ln>
          <a:effectLst>
            <a:innerShdw blurRad="63500" dist="508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lvl="0" algn="ctr"/>
            <a:r>
              <a:rPr lang="fr-FR" sz="2400" dirty="0">
                <a:solidFill>
                  <a:schemeClr val="bg1">
                    <a:lumMod val="75000"/>
                  </a:schemeClr>
                </a:solidFill>
              </a:rPr>
              <a:t>🎥</a:t>
            </a:r>
            <a:r>
              <a:rPr lang="fr" sz="1050" b="1" dirty="0">
                <a:solidFill>
                  <a:schemeClr val="bg1">
                    <a:lumMod val="75000"/>
                  </a:schemeClr>
                </a:solidFill>
                <a:latin typeface="Abadi" panose="020B0604020104020204" pitchFamily="34" charset="0"/>
              </a:rPr>
              <a:t> </a:t>
            </a:r>
            <a:r>
              <a:rPr lang="fr" sz="1600" b="1" dirty="0">
                <a:solidFill>
                  <a:schemeClr val="bg1">
                    <a:lumMod val="75000"/>
                  </a:schemeClr>
                </a:solidFill>
                <a:latin typeface="Abadi" panose="020B0604020104020204" pitchFamily="34" charset="0"/>
              </a:rPr>
              <a:t>1526 </a:t>
            </a:r>
          </a:p>
          <a:p>
            <a:pPr marL="0" marR="0" lvl="0" indent="0" algn="ctr" rtl="0">
              <a:lnSpc>
                <a:spcPct val="100000"/>
              </a:lnSpc>
              <a:spcBef>
                <a:spcPts val="0"/>
              </a:spcBef>
              <a:spcAft>
                <a:spcPts val="0"/>
              </a:spcAft>
              <a:buNone/>
            </a:pPr>
            <a:r>
              <a:rPr lang="fr" sz="1400" dirty="0">
                <a:solidFill>
                  <a:schemeClr val="bg1">
                    <a:lumMod val="75000"/>
                  </a:schemeClr>
                </a:solidFill>
                <a:latin typeface="Abadi" panose="020B0604020104020204" pitchFamily="34" charset="0"/>
              </a:rPr>
              <a:t>Programmes</a:t>
            </a:r>
            <a:endParaRPr sz="1400" dirty="0">
              <a:solidFill>
                <a:schemeClr val="bg1">
                  <a:lumMod val="75000"/>
                </a:schemeClr>
              </a:solidFill>
              <a:latin typeface="Abadi" panose="020B0604020104020204" pitchFamily="34" charset="0"/>
            </a:endParaRPr>
          </a:p>
        </p:txBody>
      </p:sp>
      <p:sp>
        <p:nvSpPr>
          <p:cNvPr id="8" name="Google Shape;111;p16">
            <a:extLst>
              <a:ext uri="{FF2B5EF4-FFF2-40B4-BE49-F238E27FC236}">
                <a16:creationId xmlns:a16="http://schemas.microsoft.com/office/drawing/2014/main" id="{ED31B9E7-16A4-D7BA-F6F4-EBAA6DBD20FF}"/>
              </a:ext>
            </a:extLst>
          </p:cNvPr>
          <p:cNvSpPr/>
          <p:nvPr/>
        </p:nvSpPr>
        <p:spPr>
          <a:xfrm>
            <a:off x="7439190" y="769311"/>
            <a:ext cx="1342500" cy="748575"/>
          </a:xfrm>
          <a:prstGeom prst="roundRect">
            <a:avLst>
              <a:gd name="adj" fmla="val 16667"/>
            </a:avLst>
          </a:prstGeom>
          <a:solidFill>
            <a:schemeClr val="tx1"/>
          </a:solidFill>
          <a:ln>
            <a:noFill/>
            <a:prstDash val="sysDash"/>
            <a:headEnd type="none" w="sm" len="sm"/>
            <a:tailEnd type="none" w="sm" len="sm"/>
          </a:ln>
          <a:effectLst>
            <a:innerShdw blurRad="63500" dist="508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L="0" marR="0" lvl="0" indent="0" algn="ctr" rtl="0">
              <a:lnSpc>
                <a:spcPct val="100000"/>
              </a:lnSpc>
              <a:spcBef>
                <a:spcPts val="0"/>
              </a:spcBef>
              <a:spcAft>
                <a:spcPts val="0"/>
              </a:spcAft>
              <a:buNone/>
            </a:pPr>
            <a:r>
              <a:rPr lang="fr" sz="1050" b="1" dirty="0">
                <a:solidFill>
                  <a:schemeClr val="bg1">
                    <a:lumMod val="75000"/>
                  </a:schemeClr>
                </a:solidFill>
                <a:latin typeface="Abadi" panose="020B0604020104020204" pitchFamily="34" charset="0"/>
              </a:rPr>
              <a:t>💰 </a:t>
            </a:r>
            <a:r>
              <a:rPr lang="fr" sz="1600" b="1" dirty="0">
                <a:solidFill>
                  <a:schemeClr val="bg1">
                    <a:lumMod val="75000"/>
                  </a:schemeClr>
                </a:solidFill>
                <a:latin typeface="Abadi" panose="020B0604020104020204" pitchFamily="34" charset="0"/>
              </a:rPr>
              <a:t>322,83bn$</a:t>
            </a:r>
            <a:endParaRPr sz="1600" b="1" dirty="0">
              <a:solidFill>
                <a:schemeClr val="bg1">
                  <a:lumMod val="75000"/>
                </a:schemeClr>
              </a:solidFill>
              <a:latin typeface="Abadi" panose="020B0604020104020204" pitchFamily="34" charset="0"/>
            </a:endParaRPr>
          </a:p>
          <a:p>
            <a:pPr marL="0" marR="0" lvl="0" indent="0" algn="ctr" rtl="0">
              <a:lnSpc>
                <a:spcPct val="100000"/>
              </a:lnSpc>
              <a:spcBef>
                <a:spcPts val="0"/>
              </a:spcBef>
              <a:spcAft>
                <a:spcPts val="0"/>
              </a:spcAft>
              <a:buNone/>
            </a:pPr>
            <a:r>
              <a:rPr lang="fr" sz="1400" dirty="0">
                <a:solidFill>
                  <a:schemeClr val="bg1">
                    <a:lumMod val="75000"/>
                  </a:schemeClr>
                </a:solidFill>
                <a:latin typeface="Abadi" panose="020B0604020104020204" pitchFamily="34" charset="0"/>
              </a:rPr>
              <a:t>Revenu</a:t>
            </a:r>
            <a:endParaRPr sz="1050" dirty="0">
              <a:solidFill>
                <a:schemeClr val="bg1">
                  <a:lumMod val="75000"/>
                </a:schemeClr>
              </a:solidFill>
              <a:latin typeface="Abadi" panose="020B0604020104020204" pitchFamily="34" charset="0"/>
            </a:endParaRPr>
          </a:p>
        </p:txBody>
      </p:sp>
      <p:sp>
        <p:nvSpPr>
          <p:cNvPr id="11" name="Google Shape;110;p16">
            <a:extLst>
              <a:ext uri="{FF2B5EF4-FFF2-40B4-BE49-F238E27FC236}">
                <a16:creationId xmlns:a16="http://schemas.microsoft.com/office/drawing/2014/main" id="{DAEEFC1D-1B95-E051-8304-1533BFE259F3}"/>
              </a:ext>
            </a:extLst>
          </p:cNvPr>
          <p:cNvSpPr/>
          <p:nvPr/>
        </p:nvSpPr>
        <p:spPr>
          <a:xfrm>
            <a:off x="2120557" y="781379"/>
            <a:ext cx="1422770" cy="717386"/>
          </a:xfrm>
          <a:prstGeom prst="roundRect">
            <a:avLst>
              <a:gd name="adj" fmla="val 16667"/>
            </a:avLst>
          </a:prstGeom>
          <a:solidFill>
            <a:schemeClr val="tx1"/>
          </a:solidFill>
          <a:ln>
            <a:noFill/>
            <a:prstDash val="sysDash"/>
            <a:headEnd type="none" w="sm" len="sm"/>
            <a:tailEnd type="none" w="sm" len="sm"/>
          </a:ln>
          <a:effectLst>
            <a:innerShdw blurRad="63500" dist="508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L="0" marR="0" lvl="0" indent="0" algn="ctr" rtl="0">
              <a:lnSpc>
                <a:spcPct val="100000"/>
              </a:lnSpc>
              <a:spcBef>
                <a:spcPts val="0"/>
              </a:spcBef>
              <a:spcAft>
                <a:spcPts val="0"/>
              </a:spcAft>
              <a:buNone/>
            </a:pPr>
            <a:r>
              <a:rPr lang="fr" sz="1600" b="1" dirty="0">
                <a:solidFill>
                  <a:schemeClr val="bg1">
                    <a:lumMod val="75000"/>
                  </a:schemeClr>
                </a:solidFill>
                <a:latin typeface="Abadi" panose="020B0604020104020204" pitchFamily="34" charset="0"/>
              </a:rPr>
              <a:t>2011</a:t>
            </a:r>
            <a:endParaRPr lang="fr" sz="2800" b="1" dirty="0">
              <a:solidFill>
                <a:schemeClr val="bg1">
                  <a:lumMod val="75000"/>
                </a:schemeClr>
              </a:solidFill>
              <a:latin typeface="Abadi" panose="020B0604020104020204" pitchFamily="34" charset="0"/>
            </a:endParaRPr>
          </a:p>
          <a:p>
            <a:pPr marL="0" marR="0" lvl="0" indent="0" algn="ctr" rtl="0">
              <a:lnSpc>
                <a:spcPct val="100000"/>
              </a:lnSpc>
              <a:spcBef>
                <a:spcPts val="0"/>
              </a:spcBef>
              <a:spcAft>
                <a:spcPts val="0"/>
              </a:spcAft>
              <a:buNone/>
            </a:pPr>
            <a:r>
              <a:rPr lang="fr" sz="1400" dirty="0">
                <a:solidFill>
                  <a:schemeClr val="bg1">
                    <a:lumMod val="75000"/>
                  </a:schemeClr>
                </a:solidFill>
                <a:latin typeface="Abadi" panose="020B0604020104020204" pitchFamily="34" charset="0"/>
              </a:rPr>
              <a:t>Lancement du Catalogue </a:t>
            </a:r>
            <a:endParaRPr sz="1400" dirty="0">
              <a:solidFill>
                <a:schemeClr val="bg1">
                  <a:lumMod val="75000"/>
                </a:schemeClr>
              </a:solidFill>
              <a:latin typeface="Abadi" panose="020B0604020104020204" pitchFamily="34" charset="0"/>
            </a:endParaRPr>
          </a:p>
        </p:txBody>
      </p:sp>
      <p:sp>
        <p:nvSpPr>
          <p:cNvPr id="12" name="Étoile : 7 branches 11">
            <a:extLst>
              <a:ext uri="{FF2B5EF4-FFF2-40B4-BE49-F238E27FC236}">
                <a16:creationId xmlns:a16="http://schemas.microsoft.com/office/drawing/2014/main" id="{402DE7B6-3CB0-0E7B-7308-421B49B41010}"/>
              </a:ext>
            </a:extLst>
          </p:cNvPr>
          <p:cNvSpPr/>
          <p:nvPr/>
        </p:nvSpPr>
        <p:spPr>
          <a:xfrm>
            <a:off x="118148" y="616324"/>
            <a:ext cx="1732674" cy="1640184"/>
          </a:xfrm>
          <a:prstGeom prst="star7">
            <a:avLst/>
          </a:prstGeom>
          <a:solidFill>
            <a:schemeClr val="tx1"/>
          </a:solidFill>
          <a:ln>
            <a:noFill/>
            <a:prstDash val="sysDash"/>
          </a:ln>
          <a:effectLst>
            <a:innerShdw blurRad="63500" dist="50800">
              <a:schemeClr val="bg1">
                <a:alpha val="5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 sz="1600" b="1" dirty="0">
                <a:solidFill>
                  <a:schemeClr val="bg1">
                    <a:lumMod val="75000"/>
                  </a:schemeClr>
                </a:solidFill>
                <a:latin typeface="Abadi" panose="020B0604020104020204" pitchFamily="34" charset="0"/>
              </a:rPr>
              <a:t>65,77 ⭐</a:t>
            </a:r>
          </a:p>
          <a:p>
            <a:pPr lvl="0" algn="ctr"/>
            <a:r>
              <a:rPr lang="fr-FR" sz="1200" dirty="0">
                <a:solidFill>
                  <a:schemeClr val="bg1">
                    <a:lumMod val="75000"/>
                  </a:schemeClr>
                </a:solidFill>
                <a:latin typeface="Abadi" panose="020B0604020104020204" pitchFamily="34" charset="0"/>
              </a:rPr>
              <a:t>Moyenne des scores </a:t>
            </a:r>
          </a:p>
        </p:txBody>
      </p:sp>
      <p:sp>
        <p:nvSpPr>
          <p:cNvPr id="15" name="Google Shape;136;p17">
            <a:extLst>
              <a:ext uri="{FF2B5EF4-FFF2-40B4-BE49-F238E27FC236}">
                <a16:creationId xmlns:a16="http://schemas.microsoft.com/office/drawing/2014/main" id="{413F9E11-BAB6-2250-6E94-CD1F015A8477}"/>
              </a:ext>
            </a:extLst>
          </p:cNvPr>
          <p:cNvSpPr/>
          <p:nvPr/>
        </p:nvSpPr>
        <p:spPr>
          <a:xfrm>
            <a:off x="4639023" y="1624295"/>
            <a:ext cx="4145519" cy="421488"/>
          </a:xfrm>
          <a:prstGeom prst="roundRect">
            <a:avLst>
              <a:gd name="adj" fmla="val 16667"/>
            </a:avLst>
          </a:prstGeom>
          <a:solidFill>
            <a:schemeClr val="tx1"/>
          </a:solidFill>
          <a:ln w="8825" cap="flat" cmpd="sng">
            <a:solidFill>
              <a:schemeClr val="tx1"/>
            </a:solidFill>
            <a:prstDash val="solid"/>
            <a:round/>
            <a:headEnd type="none" w="sm" len="sm"/>
            <a:tailEnd type="none" w="sm" len="sm"/>
          </a:ln>
          <a:effectLst>
            <a:innerShdw blurRad="63500" dist="50800" dir="18900000">
              <a:schemeClr val="bg1">
                <a:alpha val="50000"/>
              </a:schemeClr>
            </a:inn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 sz="2000" dirty="0">
                <a:solidFill>
                  <a:schemeClr val="bg1">
                    <a:lumMod val="75000"/>
                  </a:schemeClr>
                </a:solidFill>
                <a:latin typeface="Abadi" panose="020B0604020104020204" pitchFamily="34" charset="0"/>
              </a:rPr>
              <a:t>Cartégories les plus Représentées</a:t>
            </a:r>
            <a:endParaRPr sz="1600" dirty="0">
              <a:solidFill>
                <a:schemeClr val="bg1">
                  <a:lumMod val="75000"/>
                </a:schemeClr>
              </a:solidFill>
              <a:latin typeface="Abadi" panose="020B0604020104020204" pitchFamily="34" charset="0"/>
            </a:endParaRPr>
          </a:p>
        </p:txBody>
      </p:sp>
      <p:pic>
        <p:nvPicPr>
          <p:cNvPr id="17" name="Image 16" descr="Une image contenant texte, capture d’écran, cercle, Police">
            <a:extLst>
              <a:ext uri="{FF2B5EF4-FFF2-40B4-BE49-F238E27FC236}">
                <a16:creationId xmlns:a16="http://schemas.microsoft.com/office/drawing/2014/main" id="{7E069C38-FC1D-1655-90FE-7FF507F59A6B}"/>
              </a:ext>
            </a:extLst>
          </p:cNvPr>
          <p:cNvPicPr>
            <a:picLocks noChangeAspect="1"/>
          </p:cNvPicPr>
          <p:nvPr/>
        </p:nvPicPr>
        <p:blipFill>
          <a:blip r:embed="rId6"/>
          <a:stretch>
            <a:fillRect/>
          </a:stretch>
        </p:blipFill>
        <p:spPr>
          <a:xfrm>
            <a:off x="493504" y="2878962"/>
            <a:ext cx="4135218" cy="1822025"/>
          </a:xfrm>
          <a:prstGeom prst="rect">
            <a:avLst/>
          </a:prstGeom>
          <a:effectLst>
            <a:innerShdw blurRad="63500" dist="50800" dir="18900000">
              <a:schemeClr val="bg1">
                <a:alpha val="50000"/>
              </a:schemeClr>
            </a:innerShdw>
          </a:effectLst>
        </p:spPr>
      </p:pic>
      <p:sp>
        <p:nvSpPr>
          <p:cNvPr id="18" name="Google Shape;136;p17">
            <a:extLst>
              <a:ext uri="{FF2B5EF4-FFF2-40B4-BE49-F238E27FC236}">
                <a16:creationId xmlns:a16="http://schemas.microsoft.com/office/drawing/2014/main" id="{E1173DE7-9E23-DB2F-48A7-78CE44FF6076}"/>
              </a:ext>
            </a:extLst>
          </p:cNvPr>
          <p:cNvSpPr/>
          <p:nvPr/>
        </p:nvSpPr>
        <p:spPr>
          <a:xfrm>
            <a:off x="493504" y="2362917"/>
            <a:ext cx="4145519" cy="421488"/>
          </a:xfrm>
          <a:prstGeom prst="roundRect">
            <a:avLst>
              <a:gd name="adj" fmla="val 16667"/>
            </a:avLst>
          </a:prstGeom>
          <a:solidFill>
            <a:schemeClr val="tx1"/>
          </a:solidFill>
          <a:ln w="8825" cap="flat" cmpd="sng">
            <a:solidFill>
              <a:schemeClr val="tx1"/>
            </a:solidFill>
            <a:prstDash val="solid"/>
            <a:round/>
            <a:headEnd type="none" w="sm" len="sm"/>
            <a:tailEnd type="none" w="sm" len="sm"/>
          </a:ln>
          <a:effectLst>
            <a:innerShdw blurRad="63500" dist="50800" dir="18900000">
              <a:schemeClr val="bg1">
                <a:alpha val="50000"/>
              </a:schemeClr>
            </a:inn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 sz="2000" dirty="0">
                <a:solidFill>
                  <a:schemeClr val="bg1">
                    <a:lumMod val="75000"/>
                  </a:schemeClr>
                </a:solidFill>
                <a:latin typeface="Abadi" panose="020B0604020104020204" pitchFamily="34" charset="0"/>
              </a:rPr>
              <a:t>Distribution des contenus </a:t>
            </a:r>
            <a:endParaRPr sz="1600" dirty="0">
              <a:solidFill>
                <a:schemeClr val="bg1">
                  <a:lumMod val="75000"/>
                </a:schemeClr>
              </a:solidFill>
              <a:latin typeface="Abadi" panose="020B0604020104020204" pitchFamily="34" charset="0"/>
            </a:endParaRPr>
          </a:p>
        </p:txBody>
      </p:sp>
      <p:pic>
        <p:nvPicPr>
          <p:cNvPr id="20" name="Image 19" descr="Une image contenant texte, capture d’écran, Police, conception&#10;&#10;Le contenu généré par l’IA peut être incorrect.">
            <a:extLst>
              <a:ext uri="{FF2B5EF4-FFF2-40B4-BE49-F238E27FC236}">
                <a16:creationId xmlns:a16="http://schemas.microsoft.com/office/drawing/2014/main" id="{CD29BB97-9728-E9FB-0421-3DC9AD7E65C4}"/>
              </a:ext>
            </a:extLst>
          </p:cNvPr>
          <p:cNvPicPr>
            <a:picLocks noChangeAspect="1"/>
          </p:cNvPicPr>
          <p:nvPr/>
        </p:nvPicPr>
        <p:blipFill>
          <a:blip r:embed="rId7"/>
          <a:stretch>
            <a:fillRect/>
          </a:stretch>
        </p:blipFill>
        <p:spPr>
          <a:xfrm>
            <a:off x="4687558" y="2121380"/>
            <a:ext cx="4094132" cy="2968895"/>
          </a:xfrm>
          <a:prstGeom prst="rect">
            <a:avLst/>
          </a:prstGeom>
          <a:effectLst>
            <a:innerShdw blurRad="63500" dist="50800" dir="18900000">
              <a:schemeClr val="bg1">
                <a:alpha val="50000"/>
              </a:schemeClr>
            </a:innerShdw>
          </a:effectLst>
        </p:spPr>
      </p:pic>
    </p:spTree>
    <p:extLst>
      <p:ext uri="{BB962C8B-B14F-4D97-AF65-F5344CB8AC3E}">
        <p14:creationId xmlns:p14="http://schemas.microsoft.com/office/powerpoint/2010/main" val="165643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anim calcmode="lin" valueType="num">
                                      <p:cBhvr>
                                        <p:cTn id="32" dur="1000" fill="hold"/>
                                        <p:tgtEl>
                                          <p:spTgt spid="15"/>
                                        </p:tgtEl>
                                        <p:attrNameLst>
                                          <p:attrName>ppt_x</p:attrName>
                                        </p:attrNameLst>
                                      </p:cBhvr>
                                      <p:tavLst>
                                        <p:tav tm="0">
                                          <p:val>
                                            <p:strVal val="#ppt_x"/>
                                          </p:val>
                                        </p:tav>
                                        <p:tav tm="100000">
                                          <p:val>
                                            <p:strVal val="#ppt_x"/>
                                          </p:val>
                                        </p:tav>
                                      </p:tavLst>
                                    </p:anim>
                                    <p:anim calcmode="lin" valueType="num">
                                      <p:cBhvr>
                                        <p:cTn id="33" dur="1000" fill="hold"/>
                                        <p:tgtEl>
                                          <p:spTgt spid="1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1" grpId="0" animBg="1"/>
      <p:bldP spid="12" grpId="0" animBg="1"/>
      <p:bldP spid="15"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32BA94B-E825-F74C-39F1-C6E68FC947D5}"/>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448F28B7-8B8F-160C-315A-156CA7122B44}"/>
              </a:ext>
            </a:extLst>
          </p:cNvPr>
          <p:cNvPicPr>
            <a:picLocks noChangeAspect="1"/>
          </p:cNvPicPr>
          <p:nvPr/>
        </p:nvPicPr>
        <p:blipFill>
          <a:blip r:embed="rId3"/>
          <a:stretch>
            <a:fillRect/>
          </a:stretch>
        </p:blipFill>
        <p:spPr>
          <a:xfrm>
            <a:off x="0" y="-132082"/>
            <a:ext cx="9144000" cy="5275581"/>
          </a:xfrm>
          <a:prstGeom prst="rect">
            <a:avLst/>
          </a:prstGeom>
          <a:ln>
            <a:noFill/>
          </a:ln>
        </p:spPr>
      </p:pic>
      <p:sp>
        <p:nvSpPr>
          <p:cNvPr id="63" name="Google Shape;63;p14">
            <a:extLst>
              <a:ext uri="{FF2B5EF4-FFF2-40B4-BE49-F238E27FC236}">
                <a16:creationId xmlns:a16="http://schemas.microsoft.com/office/drawing/2014/main" id="{92FF5BD1-55BD-4419-AD1A-0A574F8FC946}"/>
              </a:ext>
            </a:extLst>
          </p:cNvPr>
          <p:cNvSpPr txBox="1">
            <a:spLocks noGrp="1"/>
          </p:cNvSpPr>
          <p:nvPr>
            <p:ph type="title"/>
          </p:nvPr>
        </p:nvSpPr>
        <p:spPr>
          <a:xfrm>
            <a:off x="985630" y="212801"/>
            <a:ext cx="5315100"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Catalogue et Popularité</a:t>
            </a:r>
            <a:br>
              <a:rPr lang="fr" sz="2500" dirty="0">
                <a:solidFill>
                  <a:schemeClr val="bg1"/>
                </a:solidFill>
                <a:latin typeface="Inter SemiBold"/>
                <a:ea typeface="Inter SemiBold"/>
                <a:cs typeface="Inter SemiBold"/>
                <a:sym typeface="Inter SemiBold"/>
              </a:rPr>
            </a:b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DFB79F5E-08F0-438C-789C-BB87DBC2513F}"/>
              </a:ext>
            </a:extLst>
          </p:cNvPr>
          <p:cNvSpPr txBox="1">
            <a:spLocks noGrp="1"/>
          </p:cNvSpPr>
          <p:nvPr>
            <p:ph type="sldNum" idx="12"/>
          </p:nvPr>
        </p:nvSpPr>
        <p:spPr>
          <a:xfrm>
            <a:off x="8542783" y="479572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5</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7AD5ACD4-7FB7-7981-0AFA-1759EAA4E37B}"/>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C23999BE-A061-9919-7C81-CB61F0CEBA9C}"/>
              </a:ext>
            </a:extLst>
          </p:cNvPr>
          <p:cNvPicPr>
            <a:picLocks noChangeAspect="1"/>
          </p:cNvPicPr>
          <p:nvPr/>
        </p:nvPicPr>
        <p:blipFill>
          <a:blip r:embed="rId5"/>
          <a:stretch>
            <a:fillRect/>
          </a:stretch>
        </p:blipFill>
        <p:spPr>
          <a:xfrm>
            <a:off x="8477547" y="150980"/>
            <a:ext cx="535259" cy="574296"/>
          </a:xfrm>
          <a:prstGeom prst="rect">
            <a:avLst/>
          </a:prstGeom>
        </p:spPr>
      </p:pic>
      <p:sp>
        <p:nvSpPr>
          <p:cNvPr id="2" name="Google Shape;108;p16">
            <a:extLst>
              <a:ext uri="{FF2B5EF4-FFF2-40B4-BE49-F238E27FC236}">
                <a16:creationId xmlns:a16="http://schemas.microsoft.com/office/drawing/2014/main" id="{8001D9E6-096C-24FD-244D-10ECED6267FF}"/>
              </a:ext>
            </a:extLst>
          </p:cNvPr>
          <p:cNvSpPr/>
          <p:nvPr/>
        </p:nvSpPr>
        <p:spPr>
          <a:xfrm>
            <a:off x="7315513" y="1643303"/>
            <a:ext cx="1795848" cy="750043"/>
          </a:xfrm>
          <a:prstGeom prst="roundRect">
            <a:avLst>
              <a:gd name="adj" fmla="val 16667"/>
            </a:avLst>
          </a:prstGeom>
          <a:solidFill>
            <a:schemeClr val="tx1"/>
          </a:solidFill>
          <a:ln>
            <a:noFill/>
            <a:prstDash val="solid"/>
            <a:headEnd type="none" w="sm" len="sm"/>
            <a:tailEnd type="none" w="sm" len="sm"/>
          </a:ln>
          <a:effectLst>
            <a:innerShdw blurRad="63500" dist="508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L="0" marR="0" lvl="0" indent="0" algn="ctr" rtl="0">
              <a:lnSpc>
                <a:spcPct val="100000"/>
              </a:lnSpc>
              <a:spcBef>
                <a:spcPts val="0"/>
              </a:spcBef>
              <a:spcAft>
                <a:spcPts val="0"/>
              </a:spcAft>
              <a:buNone/>
            </a:pPr>
            <a:r>
              <a:rPr lang="fr-FR" sz="2800" b="1" dirty="0">
                <a:solidFill>
                  <a:schemeClr val="bg1">
                    <a:lumMod val="75000"/>
                  </a:schemeClr>
                </a:solidFill>
                <a:latin typeface="Abadi" panose="020B0604020104020204" pitchFamily="34" charset="0"/>
              </a:rPr>
              <a:t>33,81% </a:t>
            </a:r>
          </a:p>
          <a:p>
            <a:pPr lvl="0" algn="ctr"/>
            <a:r>
              <a:rPr lang="fr-FR" sz="1050" b="1" dirty="0">
                <a:solidFill>
                  <a:schemeClr val="bg1">
                    <a:lumMod val="75000"/>
                  </a:schemeClr>
                </a:solidFill>
                <a:latin typeface="Abadi" panose="020B0604020104020204" pitchFamily="34" charset="0"/>
              </a:rPr>
              <a:t>Score ≥ 70</a:t>
            </a:r>
            <a:endParaRPr sz="1050" dirty="0">
              <a:solidFill>
                <a:schemeClr val="bg1">
                  <a:lumMod val="75000"/>
                </a:schemeClr>
              </a:solidFill>
              <a:latin typeface="Abadi" panose="020B0604020104020204" pitchFamily="34" charset="0"/>
            </a:endParaRPr>
          </a:p>
        </p:txBody>
      </p:sp>
      <p:sp>
        <p:nvSpPr>
          <p:cNvPr id="18" name="Google Shape;136;p17">
            <a:extLst>
              <a:ext uri="{FF2B5EF4-FFF2-40B4-BE49-F238E27FC236}">
                <a16:creationId xmlns:a16="http://schemas.microsoft.com/office/drawing/2014/main" id="{46AAC835-3226-05AD-8862-1D41377BCAE1}"/>
              </a:ext>
            </a:extLst>
          </p:cNvPr>
          <p:cNvSpPr/>
          <p:nvPr/>
        </p:nvSpPr>
        <p:spPr>
          <a:xfrm>
            <a:off x="354539" y="736560"/>
            <a:ext cx="6870357" cy="421488"/>
          </a:xfrm>
          <a:prstGeom prst="roundRect">
            <a:avLst>
              <a:gd name="adj" fmla="val 16667"/>
            </a:avLst>
          </a:prstGeom>
          <a:solidFill>
            <a:schemeClr val="tx1"/>
          </a:solidFill>
          <a:ln w="8825" cap="flat" cmpd="sng">
            <a:solidFill>
              <a:schemeClr val="tx1"/>
            </a:solidFill>
            <a:prstDash val="solid"/>
            <a:round/>
            <a:headEnd type="none" w="sm" len="sm"/>
            <a:tailEnd type="none" w="sm" len="sm"/>
          </a:ln>
          <a:effectLst>
            <a:innerShdw blurRad="63500" dist="50800" dir="18900000">
              <a:schemeClr val="bg1">
                <a:alpha val="50000"/>
              </a:schemeClr>
            </a:inn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 sz="2000" dirty="0">
                <a:solidFill>
                  <a:schemeClr val="bg1">
                    <a:lumMod val="75000"/>
                  </a:schemeClr>
                </a:solidFill>
                <a:latin typeface="Abadi" panose="020B0604020104020204" pitchFamily="34" charset="0"/>
              </a:rPr>
              <a:t>Moyenne des scores par genre populaire</a:t>
            </a:r>
            <a:endParaRPr sz="1600" dirty="0">
              <a:solidFill>
                <a:schemeClr val="bg1">
                  <a:lumMod val="75000"/>
                </a:schemeClr>
              </a:solidFill>
              <a:latin typeface="Abadi" panose="020B0604020104020204" pitchFamily="34" charset="0"/>
            </a:endParaRPr>
          </a:p>
        </p:txBody>
      </p:sp>
      <p:pic>
        <p:nvPicPr>
          <p:cNvPr id="6" name="Image 5" descr="Une image contenant texte, capture d’écran">
            <a:extLst>
              <a:ext uri="{FF2B5EF4-FFF2-40B4-BE49-F238E27FC236}">
                <a16:creationId xmlns:a16="http://schemas.microsoft.com/office/drawing/2014/main" id="{9C6BB08C-7E2C-9BBD-6F2E-4F7B6F4BB3F5}"/>
              </a:ext>
            </a:extLst>
          </p:cNvPr>
          <p:cNvPicPr>
            <a:picLocks noChangeAspect="1"/>
          </p:cNvPicPr>
          <p:nvPr/>
        </p:nvPicPr>
        <p:blipFill>
          <a:blip r:embed="rId6"/>
          <a:stretch>
            <a:fillRect/>
          </a:stretch>
        </p:blipFill>
        <p:spPr>
          <a:xfrm>
            <a:off x="344600" y="1269660"/>
            <a:ext cx="6870357" cy="3713344"/>
          </a:xfrm>
          <a:prstGeom prst="rect">
            <a:avLst/>
          </a:prstGeom>
          <a:effectLst>
            <a:innerShdw blurRad="63500" dist="50800" dir="18900000">
              <a:schemeClr val="bg1">
                <a:alpha val="50000"/>
              </a:schemeClr>
            </a:innerShdw>
          </a:effectLst>
        </p:spPr>
      </p:pic>
      <p:sp>
        <p:nvSpPr>
          <p:cNvPr id="9" name="Google Shape;108;p16">
            <a:extLst>
              <a:ext uri="{FF2B5EF4-FFF2-40B4-BE49-F238E27FC236}">
                <a16:creationId xmlns:a16="http://schemas.microsoft.com/office/drawing/2014/main" id="{327E0A78-E16F-C907-1B61-F0FF30CC02AE}"/>
              </a:ext>
            </a:extLst>
          </p:cNvPr>
          <p:cNvSpPr/>
          <p:nvPr/>
        </p:nvSpPr>
        <p:spPr>
          <a:xfrm>
            <a:off x="7315513" y="746484"/>
            <a:ext cx="1795848" cy="750043"/>
          </a:xfrm>
          <a:prstGeom prst="roundRect">
            <a:avLst>
              <a:gd name="adj" fmla="val 16667"/>
            </a:avLst>
          </a:prstGeom>
          <a:solidFill>
            <a:schemeClr val="tx1"/>
          </a:solidFill>
          <a:ln>
            <a:noFill/>
            <a:prstDash val="solid"/>
            <a:headEnd type="none" w="sm" len="sm"/>
            <a:tailEnd type="none" w="sm" len="sm"/>
          </a:ln>
          <a:effectLst>
            <a:innerShdw blurRad="63500" dist="508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L="0" marR="0" lvl="0" indent="0" algn="ctr" rtl="0">
              <a:lnSpc>
                <a:spcPct val="100000"/>
              </a:lnSpc>
              <a:spcBef>
                <a:spcPts val="0"/>
              </a:spcBef>
              <a:spcAft>
                <a:spcPts val="0"/>
              </a:spcAft>
              <a:buNone/>
            </a:pPr>
            <a:r>
              <a:rPr lang="fr-FR" sz="2800" b="1" dirty="0">
                <a:solidFill>
                  <a:schemeClr val="bg1">
                    <a:lumMod val="75000"/>
                  </a:schemeClr>
                </a:solidFill>
                <a:latin typeface="Abadi" panose="020B0604020104020204" pitchFamily="34" charset="0"/>
              </a:rPr>
              <a:t>63,63% </a:t>
            </a:r>
          </a:p>
          <a:p>
            <a:pPr marL="0" marR="0" lvl="0" indent="0" algn="ctr" rtl="0">
              <a:lnSpc>
                <a:spcPct val="100000"/>
              </a:lnSpc>
              <a:spcBef>
                <a:spcPts val="0"/>
              </a:spcBef>
              <a:spcAft>
                <a:spcPts val="0"/>
              </a:spcAft>
              <a:buNone/>
            </a:pPr>
            <a:r>
              <a:rPr lang="fr-FR" sz="1050" b="1" dirty="0">
                <a:solidFill>
                  <a:schemeClr val="bg1">
                    <a:lumMod val="75000"/>
                  </a:schemeClr>
                </a:solidFill>
                <a:latin typeface="Abadi" panose="020B0604020104020204" pitchFamily="34" charset="0"/>
              </a:rPr>
              <a:t>50 ≤ Score &lt; 70</a:t>
            </a:r>
            <a:endParaRPr sz="1050" dirty="0">
              <a:solidFill>
                <a:schemeClr val="bg1">
                  <a:lumMod val="75000"/>
                </a:schemeClr>
              </a:solidFill>
              <a:latin typeface="Abadi" panose="020B0604020104020204" pitchFamily="34" charset="0"/>
            </a:endParaRPr>
          </a:p>
        </p:txBody>
      </p:sp>
      <p:sp>
        <p:nvSpPr>
          <p:cNvPr id="10" name="Éclair 9">
            <a:extLst>
              <a:ext uri="{FF2B5EF4-FFF2-40B4-BE49-F238E27FC236}">
                <a16:creationId xmlns:a16="http://schemas.microsoft.com/office/drawing/2014/main" id="{C38DBF50-7178-B975-AE3A-11869BA87EB1}"/>
              </a:ext>
            </a:extLst>
          </p:cNvPr>
          <p:cNvSpPr/>
          <p:nvPr/>
        </p:nvSpPr>
        <p:spPr>
          <a:xfrm>
            <a:off x="3643180" y="2998573"/>
            <a:ext cx="518984" cy="1408367"/>
          </a:xfrm>
          <a:prstGeom prst="lightningBolt">
            <a:avLst/>
          </a:prstGeom>
          <a:solidFill>
            <a:srgbClr val="FFC00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19" name="Losange 18">
            <a:extLst>
              <a:ext uri="{FF2B5EF4-FFF2-40B4-BE49-F238E27FC236}">
                <a16:creationId xmlns:a16="http://schemas.microsoft.com/office/drawing/2014/main" id="{423357E3-BC76-3572-73B4-208B49E7A588}"/>
              </a:ext>
            </a:extLst>
          </p:cNvPr>
          <p:cNvSpPr/>
          <p:nvPr/>
        </p:nvSpPr>
        <p:spPr>
          <a:xfrm>
            <a:off x="6128951" y="1400432"/>
            <a:ext cx="617838" cy="486033"/>
          </a:xfrm>
          <a:prstGeom prst="diamond">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7829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1"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9" grpId="0" animBg="1"/>
      <p:bldP spid="10"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AA4C0D8A-DCED-9787-03A2-5D5D28D066DC}"/>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69DCC9EE-15F0-3E42-2541-FC82B29697F3}"/>
              </a:ext>
            </a:extLst>
          </p:cNvPr>
          <p:cNvPicPr>
            <a:picLocks noChangeAspect="1"/>
          </p:cNvPicPr>
          <p:nvPr/>
        </p:nvPicPr>
        <p:blipFill>
          <a:blip r:embed="rId3"/>
          <a:stretch>
            <a:fillRect/>
          </a:stretch>
        </p:blipFill>
        <p:spPr>
          <a:xfrm>
            <a:off x="0" y="-132082"/>
            <a:ext cx="9144000" cy="5275581"/>
          </a:xfrm>
          <a:prstGeom prst="rect">
            <a:avLst/>
          </a:prstGeom>
        </p:spPr>
      </p:pic>
      <p:sp>
        <p:nvSpPr>
          <p:cNvPr id="63" name="Google Shape;63;p14">
            <a:extLst>
              <a:ext uri="{FF2B5EF4-FFF2-40B4-BE49-F238E27FC236}">
                <a16:creationId xmlns:a16="http://schemas.microsoft.com/office/drawing/2014/main" id="{FAD7BA12-0628-FB32-3426-3ABD6C0E669E}"/>
              </a:ext>
            </a:extLst>
          </p:cNvPr>
          <p:cNvSpPr txBox="1">
            <a:spLocks noGrp="1"/>
          </p:cNvSpPr>
          <p:nvPr>
            <p:ph type="title"/>
          </p:nvPr>
        </p:nvSpPr>
        <p:spPr>
          <a:xfrm>
            <a:off x="985630" y="212801"/>
            <a:ext cx="5315100"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Géographie et Diversité</a:t>
            </a: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070C9168-3B5F-AFB6-77C5-BFA23E1AFF7A}"/>
              </a:ext>
            </a:extLst>
          </p:cNvPr>
          <p:cNvSpPr txBox="1">
            <a:spLocks noGrp="1"/>
          </p:cNvSpPr>
          <p:nvPr>
            <p:ph type="sldNum" idx="12"/>
          </p:nvPr>
        </p:nvSpPr>
        <p:spPr>
          <a:xfrm>
            <a:off x="4225708" y="48209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6</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08D3C75C-8A38-E182-D83D-4F7D1B0DAAC8}"/>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D49EBA07-17BB-D198-CAE1-4072CF26FDB5}"/>
              </a:ext>
            </a:extLst>
          </p:cNvPr>
          <p:cNvPicPr>
            <a:picLocks noChangeAspect="1"/>
          </p:cNvPicPr>
          <p:nvPr/>
        </p:nvPicPr>
        <p:blipFill>
          <a:blip r:embed="rId5"/>
          <a:stretch>
            <a:fillRect/>
          </a:stretch>
        </p:blipFill>
        <p:spPr>
          <a:xfrm>
            <a:off x="8477547" y="150980"/>
            <a:ext cx="535259" cy="574296"/>
          </a:xfrm>
          <a:prstGeom prst="rect">
            <a:avLst/>
          </a:prstGeom>
        </p:spPr>
      </p:pic>
      <p:sp>
        <p:nvSpPr>
          <p:cNvPr id="15" name="Google Shape;136;p17">
            <a:extLst>
              <a:ext uri="{FF2B5EF4-FFF2-40B4-BE49-F238E27FC236}">
                <a16:creationId xmlns:a16="http://schemas.microsoft.com/office/drawing/2014/main" id="{3ABA7D8D-FCC4-3C99-8C45-9F33F08E2930}"/>
              </a:ext>
            </a:extLst>
          </p:cNvPr>
          <p:cNvSpPr/>
          <p:nvPr/>
        </p:nvSpPr>
        <p:spPr>
          <a:xfrm>
            <a:off x="4826755" y="873767"/>
            <a:ext cx="4242590" cy="421488"/>
          </a:xfrm>
          <a:prstGeom prst="roundRect">
            <a:avLst>
              <a:gd name="adj" fmla="val 16667"/>
            </a:avLst>
          </a:prstGeom>
          <a:solidFill>
            <a:schemeClr val="tx1"/>
          </a:solidFill>
          <a:ln w="8825" cap="flat" cmpd="sng">
            <a:solidFill>
              <a:schemeClr val="tx1"/>
            </a:solidFill>
            <a:prstDash val="solid"/>
            <a:round/>
            <a:headEnd type="none" w="sm" len="sm"/>
            <a:tailEnd type="none" w="sm" len="sm"/>
          </a:ln>
          <a:effectLst>
            <a:innerShdw blurRad="63500" dist="50800" dir="18900000">
              <a:schemeClr val="bg1">
                <a:alpha val="50000"/>
              </a:schemeClr>
            </a:inn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 sz="2000" dirty="0">
                <a:solidFill>
                  <a:schemeClr val="bg1">
                    <a:lumMod val="75000"/>
                  </a:schemeClr>
                </a:solidFill>
                <a:latin typeface="Abadi" panose="020B0604020104020204" pitchFamily="34" charset="0"/>
              </a:rPr>
              <a:t>Genre Dominant par Pays</a:t>
            </a:r>
            <a:endParaRPr sz="1600" dirty="0">
              <a:solidFill>
                <a:schemeClr val="bg1">
                  <a:lumMod val="75000"/>
                </a:schemeClr>
              </a:solidFill>
              <a:latin typeface="Abadi" panose="020B0604020104020204" pitchFamily="34" charset="0"/>
            </a:endParaRPr>
          </a:p>
        </p:txBody>
      </p:sp>
      <p:pic>
        <p:nvPicPr>
          <p:cNvPr id="6" name="Image 5" descr="Une image contenant texte, capture d’écran, Logiciel multimédia, logiciel&#10;&#10;Le contenu généré par l’IA peut être incorrect.">
            <a:extLst>
              <a:ext uri="{FF2B5EF4-FFF2-40B4-BE49-F238E27FC236}">
                <a16:creationId xmlns:a16="http://schemas.microsoft.com/office/drawing/2014/main" id="{DEFDC32A-0F60-F785-B629-034648E8F8E2}"/>
              </a:ext>
            </a:extLst>
          </p:cNvPr>
          <p:cNvPicPr>
            <a:picLocks noChangeAspect="1"/>
          </p:cNvPicPr>
          <p:nvPr/>
        </p:nvPicPr>
        <p:blipFill>
          <a:blip r:embed="rId6"/>
          <a:srcRect t="1918" r="21966"/>
          <a:stretch>
            <a:fillRect/>
          </a:stretch>
        </p:blipFill>
        <p:spPr>
          <a:xfrm>
            <a:off x="4826755" y="1366273"/>
            <a:ext cx="4242590" cy="3564425"/>
          </a:xfrm>
          <a:prstGeom prst="rect">
            <a:avLst/>
          </a:prstGeom>
          <a:effectLst>
            <a:innerShdw blurRad="63500" dist="50800" dir="18900000">
              <a:schemeClr val="bg1">
                <a:alpha val="50000"/>
              </a:schemeClr>
            </a:innerShdw>
          </a:effectLst>
        </p:spPr>
      </p:pic>
      <p:pic>
        <p:nvPicPr>
          <p:cNvPr id="10" name="Image 9" descr="Une image contenant texte, capture d’écran, Logiciel multimédia, logiciel&#10;&#10;Le contenu généré par l’IA peut être incorrect.">
            <a:extLst>
              <a:ext uri="{FF2B5EF4-FFF2-40B4-BE49-F238E27FC236}">
                <a16:creationId xmlns:a16="http://schemas.microsoft.com/office/drawing/2014/main" id="{D7F40CE1-D5B2-4AF1-0AC8-A5A9B546EF9B}"/>
              </a:ext>
            </a:extLst>
          </p:cNvPr>
          <p:cNvPicPr>
            <a:picLocks noChangeAspect="1"/>
          </p:cNvPicPr>
          <p:nvPr/>
        </p:nvPicPr>
        <p:blipFill>
          <a:blip r:embed="rId6"/>
          <a:srcRect l="81897" t="38383" b="36263"/>
          <a:stretch>
            <a:fillRect/>
          </a:stretch>
        </p:blipFill>
        <p:spPr>
          <a:xfrm>
            <a:off x="7394843" y="2571750"/>
            <a:ext cx="1350333" cy="1243914"/>
          </a:xfrm>
          <a:prstGeom prst="rect">
            <a:avLst/>
          </a:prstGeom>
        </p:spPr>
      </p:pic>
      <p:pic>
        <p:nvPicPr>
          <p:cNvPr id="19" name="Image 18" descr="Une image contenant texte, capture d’écran, Police, diagramme&#10;&#10;Le contenu généré par l’IA peut être incorrect.">
            <a:extLst>
              <a:ext uri="{FF2B5EF4-FFF2-40B4-BE49-F238E27FC236}">
                <a16:creationId xmlns:a16="http://schemas.microsoft.com/office/drawing/2014/main" id="{1784A664-682C-74AF-F879-FFDEA246230A}"/>
              </a:ext>
            </a:extLst>
          </p:cNvPr>
          <p:cNvPicPr>
            <a:picLocks noChangeAspect="1"/>
          </p:cNvPicPr>
          <p:nvPr/>
        </p:nvPicPr>
        <p:blipFill>
          <a:blip r:embed="rId7"/>
          <a:srcRect t="10606"/>
          <a:stretch>
            <a:fillRect/>
          </a:stretch>
        </p:blipFill>
        <p:spPr>
          <a:xfrm>
            <a:off x="157033" y="2717073"/>
            <a:ext cx="4242590" cy="2213625"/>
          </a:xfrm>
          <a:prstGeom prst="rect">
            <a:avLst/>
          </a:prstGeom>
          <a:effectLst>
            <a:innerShdw blurRad="63500" dist="50800" dir="18900000">
              <a:schemeClr val="bg1">
                <a:alpha val="50000"/>
              </a:schemeClr>
            </a:innerShdw>
          </a:effectLst>
        </p:spPr>
      </p:pic>
      <p:sp>
        <p:nvSpPr>
          <p:cNvPr id="20" name="Google Shape;136;p17">
            <a:extLst>
              <a:ext uri="{FF2B5EF4-FFF2-40B4-BE49-F238E27FC236}">
                <a16:creationId xmlns:a16="http://schemas.microsoft.com/office/drawing/2014/main" id="{FD858667-88BF-1D37-79E9-22987A00AC7B}"/>
              </a:ext>
            </a:extLst>
          </p:cNvPr>
          <p:cNvSpPr/>
          <p:nvPr/>
        </p:nvSpPr>
        <p:spPr>
          <a:xfrm>
            <a:off x="157033" y="2123513"/>
            <a:ext cx="4242590" cy="421488"/>
          </a:xfrm>
          <a:prstGeom prst="roundRect">
            <a:avLst>
              <a:gd name="adj" fmla="val 16667"/>
            </a:avLst>
          </a:prstGeom>
          <a:solidFill>
            <a:schemeClr val="tx1"/>
          </a:solidFill>
          <a:ln w="8825" cap="flat" cmpd="sng">
            <a:solidFill>
              <a:schemeClr val="tx1"/>
            </a:solidFill>
            <a:prstDash val="solid"/>
            <a:round/>
            <a:headEnd type="none" w="sm" len="sm"/>
            <a:tailEnd type="none" w="sm" len="sm"/>
          </a:ln>
          <a:effectLst>
            <a:innerShdw blurRad="63500" dist="50800" dir="18900000">
              <a:schemeClr val="bg1">
                <a:alpha val="50000"/>
              </a:schemeClr>
            </a:inn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fr" sz="2000" dirty="0">
                <a:solidFill>
                  <a:schemeClr val="bg1">
                    <a:lumMod val="75000"/>
                  </a:schemeClr>
                </a:solidFill>
                <a:latin typeface="Abadi" panose="020B0604020104020204" pitchFamily="34" charset="0"/>
              </a:rPr>
              <a:t>Part de Production non Américaine</a:t>
            </a:r>
            <a:endParaRPr sz="1600" dirty="0">
              <a:solidFill>
                <a:schemeClr val="bg1">
                  <a:lumMod val="75000"/>
                </a:schemeClr>
              </a:solidFill>
              <a:latin typeface="Abadi" panose="020B0604020104020204" pitchFamily="34" charset="0"/>
            </a:endParaRPr>
          </a:p>
        </p:txBody>
      </p:sp>
      <p:sp>
        <p:nvSpPr>
          <p:cNvPr id="25" name="Google Shape;108;p16">
            <a:extLst>
              <a:ext uri="{FF2B5EF4-FFF2-40B4-BE49-F238E27FC236}">
                <a16:creationId xmlns:a16="http://schemas.microsoft.com/office/drawing/2014/main" id="{8FB7E96F-2CAC-82C0-E9DB-84C225C9B9B2}"/>
              </a:ext>
            </a:extLst>
          </p:cNvPr>
          <p:cNvSpPr/>
          <p:nvPr/>
        </p:nvSpPr>
        <p:spPr>
          <a:xfrm>
            <a:off x="829280" y="897348"/>
            <a:ext cx="2935412" cy="870702"/>
          </a:xfrm>
          <a:prstGeom prst="roundRect">
            <a:avLst>
              <a:gd name="adj" fmla="val 16667"/>
            </a:avLst>
          </a:prstGeom>
          <a:solidFill>
            <a:schemeClr val="tx1"/>
          </a:solidFill>
          <a:ln>
            <a:noFill/>
            <a:prstDash val="solid"/>
            <a:headEnd type="none" w="sm" len="sm"/>
            <a:tailEnd type="none" w="sm" len="sm"/>
          </a:ln>
          <a:effectLst>
            <a:innerShdw blurRad="63500" dist="50800" dir="189000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L="0" marR="0" lvl="0" indent="0" algn="ctr" rtl="0">
              <a:lnSpc>
                <a:spcPct val="100000"/>
              </a:lnSpc>
              <a:spcBef>
                <a:spcPts val="0"/>
              </a:spcBef>
              <a:spcAft>
                <a:spcPts val="0"/>
              </a:spcAft>
              <a:buNone/>
            </a:pPr>
            <a:r>
              <a:rPr lang="fr-FR" sz="2800" b="1" dirty="0">
                <a:solidFill>
                  <a:schemeClr val="bg1">
                    <a:lumMod val="75000"/>
                  </a:schemeClr>
                </a:solidFill>
                <a:latin typeface="Abadi" panose="020B0604020104020204" pitchFamily="34" charset="0"/>
              </a:rPr>
              <a:t>49,54%</a:t>
            </a:r>
          </a:p>
          <a:p>
            <a:pPr marL="0" marR="0" lvl="0" indent="0" algn="ctr" rtl="0">
              <a:lnSpc>
                <a:spcPct val="100000"/>
              </a:lnSpc>
              <a:spcBef>
                <a:spcPts val="0"/>
              </a:spcBef>
              <a:spcAft>
                <a:spcPts val="0"/>
              </a:spcAft>
              <a:buNone/>
            </a:pPr>
            <a:r>
              <a:rPr lang="fr-FR" sz="1050" b="1" dirty="0">
                <a:solidFill>
                  <a:schemeClr val="bg1">
                    <a:lumMod val="75000"/>
                  </a:schemeClr>
                </a:solidFill>
                <a:latin typeface="Abadi" panose="020B0604020104020204" pitchFamily="34" charset="0"/>
              </a:rPr>
              <a:t>Production Américaine </a:t>
            </a:r>
            <a:endParaRPr sz="1050" dirty="0">
              <a:solidFill>
                <a:schemeClr val="bg1">
                  <a:lumMod val="75000"/>
                </a:schemeClr>
              </a:solidFill>
              <a:latin typeface="Abadi" panose="020B0604020104020204" pitchFamily="34" charset="0"/>
            </a:endParaRPr>
          </a:p>
        </p:txBody>
      </p:sp>
    </p:spTree>
    <p:extLst>
      <p:ext uri="{BB962C8B-B14F-4D97-AF65-F5344CB8AC3E}">
        <p14:creationId xmlns:p14="http://schemas.microsoft.com/office/powerpoint/2010/main" val="317270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F4F4D420-E08A-C43F-7B7F-FF53D28DDF0C}"/>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216DDA70-87F3-FA46-9F6F-A3EDBC91F3F6}"/>
              </a:ext>
            </a:extLst>
          </p:cNvPr>
          <p:cNvPicPr>
            <a:picLocks noChangeAspect="1"/>
          </p:cNvPicPr>
          <p:nvPr/>
        </p:nvPicPr>
        <p:blipFill>
          <a:blip r:embed="rId3"/>
          <a:stretch>
            <a:fillRect/>
          </a:stretch>
        </p:blipFill>
        <p:spPr>
          <a:xfrm>
            <a:off x="0" y="-132082"/>
            <a:ext cx="9144000" cy="5275581"/>
          </a:xfrm>
          <a:prstGeom prst="rect">
            <a:avLst/>
          </a:prstGeom>
          <a:effectLst>
            <a:innerShdw blurRad="63500" dist="50800" dir="8100000">
              <a:schemeClr val="bg1">
                <a:alpha val="50000"/>
              </a:schemeClr>
            </a:innerShdw>
          </a:effectLst>
        </p:spPr>
      </p:pic>
      <p:sp>
        <p:nvSpPr>
          <p:cNvPr id="63" name="Google Shape;63;p14">
            <a:extLst>
              <a:ext uri="{FF2B5EF4-FFF2-40B4-BE49-F238E27FC236}">
                <a16:creationId xmlns:a16="http://schemas.microsoft.com/office/drawing/2014/main" id="{3489E77D-113A-30B5-4345-340C170C4956}"/>
              </a:ext>
            </a:extLst>
          </p:cNvPr>
          <p:cNvSpPr txBox="1">
            <a:spLocks noGrp="1"/>
          </p:cNvSpPr>
          <p:nvPr>
            <p:ph type="title"/>
          </p:nvPr>
        </p:nvSpPr>
        <p:spPr>
          <a:xfrm>
            <a:off x="985629" y="212801"/>
            <a:ext cx="6587987"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Evolution du Catalogue dans le temps</a:t>
            </a: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7DC4BE1C-F35D-4A12-6763-07E4CF68A129}"/>
              </a:ext>
            </a:extLst>
          </p:cNvPr>
          <p:cNvSpPr txBox="1">
            <a:spLocks noGrp="1"/>
          </p:cNvSpPr>
          <p:nvPr>
            <p:ph type="sldNum" idx="12"/>
          </p:nvPr>
        </p:nvSpPr>
        <p:spPr>
          <a:xfrm>
            <a:off x="8561857" y="473389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7</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E1747A3A-3AF6-0841-C7C6-9CD74F001942}"/>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06E33054-6635-51DF-F718-01F2FE9A295E}"/>
              </a:ext>
            </a:extLst>
          </p:cNvPr>
          <p:cNvPicPr>
            <a:picLocks noChangeAspect="1"/>
          </p:cNvPicPr>
          <p:nvPr/>
        </p:nvPicPr>
        <p:blipFill>
          <a:blip r:embed="rId5"/>
          <a:stretch>
            <a:fillRect/>
          </a:stretch>
        </p:blipFill>
        <p:spPr>
          <a:xfrm>
            <a:off x="8477547" y="150980"/>
            <a:ext cx="535259" cy="574296"/>
          </a:xfrm>
          <a:prstGeom prst="rect">
            <a:avLst/>
          </a:prstGeom>
        </p:spPr>
      </p:pic>
      <p:pic>
        <p:nvPicPr>
          <p:cNvPr id="2" name="Image 1" descr="Une image contenant capture d’écran, texte, ligne, diagramme">
            <a:extLst>
              <a:ext uri="{FF2B5EF4-FFF2-40B4-BE49-F238E27FC236}">
                <a16:creationId xmlns:a16="http://schemas.microsoft.com/office/drawing/2014/main" id="{06D9F235-6DD4-F488-D0C8-F00FF41CA3B9}"/>
              </a:ext>
            </a:extLst>
          </p:cNvPr>
          <p:cNvPicPr>
            <a:picLocks noChangeAspect="1"/>
          </p:cNvPicPr>
          <p:nvPr/>
        </p:nvPicPr>
        <p:blipFill>
          <a:blip r:embed="rId6"/>
          <a:srcRect t="8010"/>
          <a:stretch>
            <a:fillRect/>
          </a:stretch>
        </p:blipFill>
        <p:spPr>
          <a:xfrm>
            <a:off x="33443" y="3034104"/>
            <a:ext cx="6400800" cy="2028924"/>
          </a:xfrm>
          <a:prstGeom prst="rect">
            <a:avLst/>
          </a:prstGeom>
          <a:effectLst>
            <a:innerShdw blurRad="63500" dist="50800" dir="18900000">
              <a:schemeClr val="bg1">
                <a:alpha val="50000"/>
              </a:schemeClr>
            </a:innerShdw>
          </a:effectLst>
        </p:spPr>
      </p:pic>
      <p:pic>
        <p:nvPicPr>
          <p:cNvPr id="7" name="Image 6" descr="Une image contenant texte, capture d’écran&#10;&#10;Le contenu généré par l’IA peut être incorrect.">
            <a:extLst>
              <a:ext uri="{FF2B5EF4-FFF2-40B4-BE49-F238E27FC236}">
                <a16:creationId xmlns:a16="http://schemas.microsoft.com/office/drawing/2014/main" id="{3C9DEB5D-9C09-B1DB-EAEA-3C7EFED1F542}"/>
              </a:ext>
            </a:extLst>
          </p:cNvPr>
          <p:cNvPicPr>
            <a:picLocks noChangeAspect="1"/>
          </p:cNvPicPr>
          <p:nvPr/>
        </p:nvPicPr>
        <p:blipFill>
          <a:blip r:embed="rId7"/>
          <a:stretch>
            <a:fillRect/>
          </a:stretch>
        </p:blipFill>
        <p:spPr>
          <a:xfrm>
            <a:off x="4403035" y="745901"/>
            <a:ext cx="4609771" cy="2424682"/>
          </a:xfrm>
          <a:prstGeom prst="rect">
            <a:avLst/>
          </a:prstGeom>
          <a:effectLst>
            <a:innerShdw blurRad="63500" dist="50800" dir="8100000">
              <a:schemeClr val="bg1">
                <a:alpha val="50000"/>
              </a:schemeClr>
            </a:innerShdw>
          </a:effectLst>
        </p:spPr>
      </p:pic>
      <p:sp>
        <p:nvSpPr>
          <p:cNvPr id="11" name="Google Shape;108;p16">
            <a:extLst>
              <a:ext uri="{FF2B5EF4-FFF2-40B4-BE49-F238E27FC236}">
                <a16:creationId xmlns:a16="http://schemas.microsoft.com/office/drawing/2014/main" id="{CCD5CBCB-862F-A9FF-93BF-0F15E95F5522}"/>
              </a:ext>
            </a:extLst>
          </p:cNvPr>
          <p:cNvSpPr/>
          <p:nvPr/>
        </p:nvSpPr>
        <p:spPr>
          <a:xfrm>
            <a:off x="401490" y="956982"/>
            <a:ext cx="3633498" cy="1517860"/>
          </a:xfrm>
          <a:prstGeom prst="roundRect">
            <a:avLst>
              <a:gd name="adj" fmla="val 16667"/>
            </a:avLst>
          </a:prstGeom>
          <a:solidFill>
            <a:schemeClr val="tx1"/>
          </a:solidFill>
          <a:ln>
            <a:noFill/>
            <a:prstDash val="solid"/>
            <a:headEnd type="none" w="sm" len="sm"/>
            <a:tailEnd type="none" w="sm" len="sm"/>
          </a:ln>
          <a:effectLst>
            <a:innerShdw blurRad="63500" dist="50800" dir="189000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marR="0" lvl="0" rtl="0">
              <a:lnSpc>
                <a:spcPct val="100000"/>
              </a:lnSpc>
              <a:spcBef>
                <a:spcPts val="0"/>
              </a:spcBef>
              <a:spcAft>
                <a:spcPts val="0"/>
              </a:spcAft>
            </a:pPr>
            <a:r>
              <a:rPr lang="fr-FR" sz="2000" b="1" dirty="0">
                <a:solidFill>
                  <a:schemeClr val="bg1">
                    <a:lumMod val="75000"/>
                  </a:schemeClr>
                </a:solidFill>
                <a:latin typeface="Abadi" panose="020B0604020104020204" pitchFamily="34" charset="0"/>
              </a:rPr>
              <a:t>2014  Arrivée des TV Show</a:t>
            </a:r>
          </a:p>
          <a:p>
            <a:pPr marL="228600" indent="-228600">
              <a:buFontTx/>
              <a:buAutoNum type="arabicPlain" startAt="2016"/>
            </a:pPr>
            <a:endParaRPr lang="fr-FR" sz="800" dirty="0">
              <a:solidFill>
                <a:schemeClr val="bg1">
                  <a:lumMod val="75000"/>
                </a:schemeClr>
              </a:solidFill>
              <a:latin typeface="Abadi" panose="020B0604020104020204" pitchFamily="34" charset="0"/>
            </a:endParaRPr>
          </a:p>
          <a:p>
            <a:pPr marL="228600" indent="-228600">
              <a:buFontTx/>
              <a:buAutoNum type="arabicPlain" startAt="2016"/>
            </a:pPr>
            <a:r>
              <a:rPr lang="fr-FR" sz="2000" b="1" dirty="0">
                <a:solidFill>
                  <a:schemeClr val="bg1">
                    <a:lumMod val="75000"/>
                  </a:schemeClr>
                </a:solidFill>
                <a:latin typeface="Abadi" panose="020B0604020104020204" pitchFamily="34" charset="0"/>
              </a:rPr>
              <a:t>  Début de Croissance </a:t>
            </a:r>
          </a:p>
          <a:p>
            <a:pPr marL="228600" marR="0" lvl="0" indent="-228600" rtl="0">
              <a:lnSpc>
                <a:spcPct val="100000"/>
              </a:lnSpc>
              <a:spcBef>
                <a:spcPts val="0"/>
              </a:spcBef>
              <a:spcAft>
                <a:spcPts val="0"/>
              </a:spcAft>
              <a:buAutoNum type="arabicPlain" startAt="2016"/>
            </a:pPr>
            <a:endParaRPr sz="900" dirty="0">
              <a:solidFill>
                <a:schemeClr val="bg1">
                  <a:lumMod val="75000"/>
                </a:schemeClr>
              </a:solidFill>
              <a:latin typeface="Abadi" panose="020B0604020104020204" pitchFamily="34" charset="0"/>
            </a:endParaRPr>
          </a:p>
        </p:txBody>
      </p:sp>
      <p:cxnSp>
        <p:nvCxnSpPr>
          <p:cNvPr id="13" name="Connecteur droit 12">
            <a:extLst>
              <a:ext uri="{FF2B5EF4-FFF2-40B4-BE49-F238E27FC236}">
                <a16:creationId xmlns:a16="http://schemas.microsoft.com/office/drawing/2014/main" id="{9ABD25C0-9C3B-CA82-6820-4266B520D7C6}"/>
              </a:ext>
            </a:extLst>
          </p:cNvPr>
          <p:cNvCxnSpPr/>
          <p:nvPr/>
        </p:nvCxnSpPr>
        <p:spPr>
          <a:xfrm>
            <a:off x="1232452" y="1371601"/>
            <a:ext cx="0" cy="198782"/>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BE2342C3-EE99-9513-2926-B28658BCD996}"/>
              </a:ext>
            </a:extLst>
          </p:cNvPr>
          <p:cNvCxnSpPr/>
          <p:nvPr/>
        </p:nvCxnSpPr>
        <p:spPr>
          <a:xfrm>
            <a:off x="1222513" y="1785485"/>
            <a:ext cx="0" cy="198782"/>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18" name="Google Shape;108;p16">
            <a:extLst>
              <a:ext uri="{FF2B5EF4-FFF2-40B4-BE49-F238E27FC236}">
                <a16:creationId xmlns:a16="http://schemas.microsoft.com/office/drawing/2014/main" id="{76E837CE-8FA5-62C5-C0B5-DF14BF5C6C95}"/>
              </a:ext>
            </a:extLst>
          </p:cNvPr>
          <p:cNvSpPr/>
          <p:nvPr/>
        </p:nvSpPr>
        <p:spPr>
          <a:xfrm>
            <a:off x="6569764" y="3309730"/>
            <a:ext cx="2325757" cy="1600200"/>
          </a:xfrm>
          <a:prstGeom prst="roundRect">
            <a:avLst>
              <a:gd name="adj" fmla="val 16667"/>
            </a:avLst>
          </a:prstGeom>
          <a:solidFill>
            <a:schemeClr val="tx1"/>
          </a:solidFill>
          <a:ln>
            <a:noFill/>
            <a:prstDash val="solid"/>
            <a:headEnd type="none" w="sm" len="sm"/>
            <a:tailEnd type="none" w="sm" len="sm"/>
          </a:ln>
          <a:effectLst>
            <a:innerShdw blurRad="63500" dist="50800" dir="18900000">
              <a:schemeClr val="bg1">
                <a:alpha val="50000"/>
              </a:schemeClr>
            </a:innerShdw>
          </a:effectLst>
        </p:spPr>
        <p:style>
          <a:lnRef idx="2">
            <a:schemeClr val="dk1"/>
          </a:lnRef>
          <a:fillRef idx="1">
            <a:schemeClr val="lt1"/>
          </a:fillRef>
          <a:effectRef idx="0">
            <a:schemeClr val="dk1"/>
          </a:effectRef>
          <a:fontRef idx="minor">
            <a:schemeClr val="dk1"/>
          </a:fontRef>
        </p:style>
        <p:txBody>
          <a:bodyPr spcFirstLastPara="1" wrap="square" lIns="81900" tIns="81900" rIns="81900" bIns="81900" anchor="ctr" anchorCtr="0">
            <a:noAutofit/>
          </a:bodyPr>
          <a:lstStyle/>
          <a:p>
            <a:pPr lvl="0" algn="ctr"/>
            <a:r>
              <a:rPr lang="fr-FR" dirty="0">
                <a:solidFill>
                  <a:schemeClr val="bg1">
                    <a:lumMod val="75000"/>
                  </a:schemeClr>
                </a:solidFill>
              </a:rPr>
              <a:t>Durée des Films vs Qualité</a:t>
            </a:r>
          </a:p>
          <a:p>
            <a:pPr lvl="0" algn="ctr"/>
            <a:r>
              <a:rPr lang="fr-FR" dirty="0">
                <a:solidFill>
                  <a:schemeClr val="bg1">
                    <a:lumMod val="75000"/>
                  </a:schemeClr>
                </a:solidFill>
              </a:rPr>
              <a:t>Une Évolution Contrastée</a:t>
            </a:r>
            <a:endParaRPr sz="800" dirty="0">
              <a:solidFill>
                <a:schemeClr val="bg1">
                  <a:lumMod val="75000"/>
                </a:schemeClr>
              </a:solidFill>
              <a:latin typeface="Abadi" panose="020B0604020104020204" pitchFamily="34" charset="0"/>
            </a:endParaRPr>
          </a:p>
        </p:txBody>
      </p:sp>
      <p:sp>
        <p:nvSpPr>
          <p:cNvPr id="23" name="Flèche : courbe vers la gauche 22">
            <a:extLst>
              <a:ext uri="{FF2B5EF4-FFF2-40B4-BE49-F238E27FC236}">
                <a16:creationId xmlns:a16="http://schemas.microsoft.com/office/drawing/2014/main" id="{96533C1B-402B-B13B-307E-FA207417F4D1}"/>
              </a:ext>
            </a:extLst>
          </p:cNvPr>
          <p:cNvSpPr/>
          <p:nvPr/>
        </p:nvSpPr>
        <p:spPr>
          <a:xfrm rot="4791451">
            <a:off x="6356869" y="4203713"/>
            <a:ext cx="399904" cy="1133984"/>
          </a:xfrm>
          <a:prstGeom prst="curvedLeftArrow">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108153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ppt_x"/>
                                          </p:val>
                                        </p:tav>
                                        <p:tav tm="100000">
                                          <p:val>
                                            <p:strVal val="#ppt_x"/>
                                          </p:val>
                                        </p:tav>
                                      </p:tavLst>
                                    </p:anim>
                                    <p:anim calcmode="lin" valueType="num">
                                      <p:cBhvr additive="base">
                                        <p:cTn id="39" dur="500" fill="hold"/>
                                        <p:tgtEl>
                                          <p:spTgt spid="23"/>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434C0175-F6E9-CFAE-E5F8-AD8A053ABC0E}"/>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0698C989-E2B4-521D-2D6E-70358BDF20A1}"/>
              </a:ext>
            </a:extLst>
          </p:cNvPr>
          <p:cNvPicPr>
            <a:picLocks noChangeAspect="1"/>
          </p:cNvPicPr>
          <p:nvPr/>
        </p:nvPicPr>
        <p:blipFill>
          <a:blip r:embed="rId3"/>
          <a:stretch>
            <a:fillRect/>
          </a:stretch>
        </p:blipFill>
        <p:spPr>
          <a:xfrm>
            <a:off x="0" y="-132082"/>
            <a:ext cx="9144000" cy="5275581"/>
          </a:xfrm>
          <a:prstGeom prst="rect">
            <a:avLst/>
          </a:prstGeom>
          <a:effectLst>
            <a:innerShdw blurRad="63500" dist="50800" dir="8100000">
              <a:schemeClr val="bg1">
                <a:alpha val="50000"/>
              </a:schemeClr>
            </a:innerShdw>
          </a:effectLst>
        </p:spPr>
      </p:pic>
      <p:sp>
        <p:nvSpPr>
          <p:cNvPr id="63" name="Google Shape;63;p14">
            <a:extLst>
              <a:ext uri="{FF2B5EF4-FFF2-40B4-BE49-F238E27FC236}">
                <a16:creationId xmlns:a16="http://schemas.microsoft.com/office/drawing/2014/main" id="{D9B49E89-F611-8461-B86E-052E026FFC91}"/>
              </a:ext>
            </a:extLst>
          </p:cNvPr>
          <p:cNvSpPr txBox="1">
            <a:spLocks noGrp="1"/>
          </p:cNvSpPr>
          <p:nvPr>
            <p:ph type="title"/>
          </p:nvPr>
        </p:nvSpPr>
        <p:spPr>
          <a:xfrm>
            <a:off x="985629" y="212801"/>
            <a:ext cx="6587987"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Analyse Réseau Acteurs/Réalisateurs</a:t>
            </a:r>
            <a:br>
              <a:rPr lang="fr" sz="2500" u="sng" dirty="0">
                <a:solidFill>
                  <a:schemeClr val="bg1"/>
                </a:solidFill>
                <a:latin typeface="Inter SemiBold"/>
                <a:ea typeface="Inter SemiBold"/>
                <a:cs typeface="Inter SemiBold"/>
                <a:sym typeface="Inter SemiBold"/>
              </a:rPr>
            </a:b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2AFA0D04-59BC-835B-E63D-650E9772EAC4}"/>
              </a:ext>
            </a:extLst>
          </p:cNvPr>
          <p:cNvSpPr txBox="1">
            <a:spLocks noGrp="1"/>
          </p:cNvSpPr>
          <p:nvPr>
            <p:ph type="sldNum" idx="12"/>
          </p:nvPr>
        </p:nvSpPr>
        <p:spPr>
          <a:xfrm>
            <a:off x="8561857" y="473389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8</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20FF22C7-FAFE-5855-61E8-770F0A34C5C4}"/>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26AF71B3-1DB5-0A7D-9615-0C9422451834}"/>
              </a:ext>
            </a:extLst>
          </p:cNvPr>
          <p:cNvPicPr>
            <a:picLocks noChangeAspect="1"/>
          </p:cNvPicPr>
          <p:nvPr/>
        </p:nvPicPr>
        <p:blipFill>
          <a:blip r:embed="rId5"/>
          <a:stretch>
            <a:fillRect/>
          </a:stretch>
        </p:blipFill>
        <p:spPr>
          <a:xfrm>
            <a:off x="8477547" y="150980"/>
            <a:ext cx="535259" cy="574296"/>
          </a:xfrm>
          <a:prstGeom prst="rect">
            <a:avLst/>
          </a:prstGeom>
        </p:spPr>
      </p:pic>
      <p:pic>
        <p:nvPicPr>
          <p:cNvPr id="6" name="Image 5" descr="Une image contenant texte, capture d’écran, graphisme, affiche&#10;&#10;Le contenu généré par l’IA peut être incorrect.">
            <a:extLst>
              <a:ext uri="{FF2B5EF4-FFF2-40B4-BE49-F238E27FC236}">
                <a16:creationId xmlns:a16="http://schemas.microsoft.com/office/drawing/2014/main" id="{487F963F-F6E6-CAD0-1A7D-9B6498961E42}"/>
              </a:ext>
            </a:extLst>
          </p:cNvPr>
          <p:cNvPicPr>
            <a:picLocks noChangeAspect="1"/>
          </p:cNvPicPr>
          <p:nvPr/>
        </p:nvPicPr>
        <p:blipFill>
          <a:blip r:embed="rId6"/>
          <a:srcRect t="2493"/>
          <a:stretch>
            <a:fillRect/>
          </a:stretch>
        </p:blipFill>
        <p:spPr>
          <a:xfrm>
            <a:off x="4332115" y="864226"/>
            <a:ext cx="4678434" cy="3649998"/>
          </a:xfrm>
          <a:prstGeom prst="rect">
            <a:avLst/>
          </a:prstGeom>
          <a:effectLst>
            <a:innerShdw blurRad="63500" dist="50800" dir="18900000">
              <a:schemeClr val="bg1">
                <a:alpha val="50000"/>
              </a:schemeClr>
            </a:innerShdw>
          </a:effectLst>
        </p:spPr>
      </p:pic>
      <p:pic>
        <p:nvPicPr>
          <p:cNvPr id="9" name="Image 8" descr="Une image contenant texte, capture d’écran, conception&#10;&#10;Le contenu généré par l’IA peut être incorrect.">
            <a:extLst>
              <a:ext uri="{FF2B5EF4-FFF2-40B4-BE49-F238E27FC236}">
                <a16:creationId xmlns:a16="http://schemas.microsoft.com/office/drawing/2014/main" id="{F29A2CB6-5997-DBB1-8075-3BEF4756B2A3}"/>
              </a:ext>
            </a:extLst>
          </p:cNvPr>
          <p:cNvPicPr>
            <a:picLocks noChangeAspect="1"/>
          </p:cNvPicPr>
          <p:nvPr/>
        </p:nvPicPr>
        <p:blipFill>
          <a:blip r:embed="rId7"/>
          <a:stretch>
            <a:fillRect/>
          </a:stretch>
        </p:blipFill>
        <p:spPr>
          <a:xfrm>
            <a:off x="279445" y="864226"/>
            <a:ext cx="3870726" cy="3649998"/>
          </a:xfrm>
          <a:prstGeom prst="rect">
            <a:avLst/>
          </a:prstGeom>
          <a:effectLst>
            <a:innerShdw blurRad="63500" dist="50800" dir="18900000">
              <a:schemeClr val="bg1">
                <a:alpha val="50000"/>
              </a:schemeClr>
            </a:innerShdw>
          </a:effectLst>
        </p:spPr>
      </p:pic>
      <p:pic>
        <p:nvPicPr>
          <p:cNvPr id="3" name="Image 2" descr="Une image contenant capture d’écran, texte, logiciel, Logiciel multimédia&#10;&#10;Le contenu généré par l’IA peut être incorrect.">
            <a:extLst>
              <a:ext uri="{FF2B5EF4-FFF2-40B4-BE49-F238E27FC236}">
                <a16:creationId xmlns:a16="http://schemas.microsoft.com/office/drawing/2014/main" id="{947B570A-AEC9-0087-184F-D08F32934AED}"/>
              </a:ext>
            </a:extLst>
          </p:cNvPr>
          <p:cNvPicPr>
            <a:picLocks noChangeAspect="1"/>
          </p:cNvPicPr>
          <p:nvPr/>
        </p:nvPicPr>
        <p:blipFill>
          <a:blip r:embed="rId8"/>
          <a:stretch>
            <a:fillRect/>
          </a:stretch>
        </p:blipFill>
        <p:spPr>
          <a:xfrm>
            <a:off x="461389" y="1217355"/>
            <a:ext cx="8221222" cy="2638793"/>
          </a:xfrm>
          <a:prstGeom prst="rect">
            <a:avLst/>
          </a:prstGeom>
          <a:effectLst>
            <a:innerShdw blurRad="63500" dist="50800" dir="18900000">
              <a:schemeClr val="bg1">
                <a:alpha val="50000"/>
              </a:schemeClr>
            </a:innerShdw>
          </a:effectLst>
        </p:spPr>
      </p:pic>
    </p:spTree>
    <p:extLst>
      <p:ext uri="{BB962C8B-B14F-4D97-AF65-F5344CB8AC3E}">
        <p14:creationId xmlns:p14="http://schemas.microsoft.com/office/powerpoint/2010/main" val="399125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xit" presetSubtype="0" fill="hold" nodeType="withEffect">
                                  <p:stCondLst>
                                    <p:cond delay="4000"/>
                                  </p:stCondLst>
                                  <p:childTnLst>
                                    <p:animEffect transition="out" filter="fade">
                                      <p:cBhvr>
                                        <p:cTn id="6" dur="1000"/>
                                        <p:tgtEl>
                                          <p:spTgt spid="9"/>
                                        </p:tgtEl>
                                      </p:cBhvr>
                                    </p:animEffect>
                                    <p:anim calcmode="lin" valueType="num">
                                      <p:cBhvr>
                                        <p:cTn id="7" dur="1000"/>
                                        <p:tgtEl>
                                          <p:spTgt spid="9"/>
                                        </p:tgtEl>
                                        <p:attrNameLst>
                                          <p:attrName>ppt_x</p:attrName>
                                        </p:attrNameLst>
                                      </p:cBhvr>
                                      <p:tavLst>
                                        <p:tav tm="0">
                                          <p:val>
                                            <p:strVal val="ppt_x"/>
                                          </p:val>
                                        </p:tav>
                                        <p:tav tm="100000">
                                          <p:val>
                                            <p:strVal val="ppt_x"/>
                                          </p:val>
                                        </p:tav>
                                      </p:tavLst>
                                    </p:anim>
                                    <p:anim calcmode="lin" valueType="num">
                                      <p:cBhvr>
                                        <p:cTn id="8" dur="1000"/>
                                        <p:tgtEl>
                                          <p:spTgt spid="9"/>
                                        </p:tgtEl>
                                        <p:attrNameLst>
                                          <p:attrName>ppt_y</p:attrName>
                                        </p:attrNameLst>
                                      </p:cBhvr>
                                      <p:tavLst>
                                        <p:tav tm="0">
                                          <p:val>
                                            <p:strVal val="ppt_y"/>
                                          </p:val>
                                        </p:tav>
                                        <p:tav tm="100000">
                                          <p:val>
                                            <p:strVal val="ppt_y+.1"/>
                                          </p:val>
                                        </p:tav>
                                      </p:tavLst>
                                    </p:anim>
                                    <p:set>
                                      <p:cBhvr>
                                        <p:cTn id="9" dur="1" fill="hold">
                                          <p:stCondLst>
                                            <p:cond delay="999"/>
                                          </p:stCondLst>
                                        </p:cTn>
                                        <p:tgtEl>
                                          <p:spTgt spid="9"/>
                                        </p:tgtEl>
                                        <p:attrNameLst>
                                          <p:attrName>style.visibility</p:attrName>
                                        </p:attrNameLst>
                                      </p:cBhvr>
                                      <p:to>
                                        <p:strVal val="hidden"/>
                                      </p:to>
                                    </p:set>
                                  </p:childTnLst>
                                </p:cTn>
                              </p:par>
                              <p:par>
                                <p:cTn id="10" presetID="42" presetClass="exit" presetSubtype="0" fill="hold" nodeType="withEffect">
                                  <p:stCondLst>
                                    <p:cond delay="4000"/>
                                  </p:stCondLst>
                                  <p:childTnLst>
                                    <p:animEffect transition="out" filter="fade">
                                      <p:cBhvr>
                                        <p:cTn id="11" dur="1000"/>
                                        <p:tgtEl>
                                          <p:spTgt spid="6"/>
                                        </p:tgtEl>
                                      </p:cBhvr>
                                    </p:animEffect>
                                    <p:anim calcmode="lin" valueType="num">
                                      <p:cBhvr>
                                        <p:cTn id="12" dur="1000"/>
                                        <p:tgtEl>
                                          <p:spTgt spid="6"/>
                                        </p:tgtEl>
                                        <p:attrNameLst>
                                          <p:attrName>ppt_x</p:attrName>
                                        </p:attrNameLst>
                                      </p:cBhvr>
                                      <p:tavLst>
                                        <p:tav tm="0">
                                          <p:val>
                                            <p:strVal val="ppt_x"/>
                                          </p:val>
                                        </p:tav>
                                        <p:tav tm="100000">
                                          <p:val>
                                            <p:strVal val="ppt_x"/>
                                          </p:val>
                                        </p:tav>
                                      </p:tavLst>
                                    </p:anim>
                                    <p:anim calcmode="lin" valueType="num">
                                      <p:cBhvr>
                                        <p:cTn id="13" dur="1000"/>
                                        <p:tgtEl>
                                          <p:spTgt spid="6"/>
                                        </p:tgtEl>
                                        <p:attrNameLst>
                                          <p:attrName>ppt_y</p:attrName>
                                        </p:attrNameLst>
                                      </p:cBhvr>
                                      <p:tavLst>
                                        <p:tav tm="0">
                                          <p:val>
                                            <p:strVal val="ppt_y"/>
                                          </p:val>
                                        </p:tav>
                                        <p:tav tm="100000">
                                          <p:val>
                                            <p:strVal val="ppt_y+.1"/>
                                          </p:val>
                                        </p:tav>
                                      </p:tavLst>
                                    </p:anim>
                                    <p:set>
                                      <p:cBhvr>
                                        <p:cTn id="14" dur="1" fill="hold">
                                          <p:stCondLst>
                                            <p:cond delay="9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F87FEA9C-2EBC-9AB2-1A34-7594A2CE6C52}"/>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580744B5-074C-3CD7-7FCF-9F39094AC0A7}"/>
              </a:ext>
            </a:extLst>
          </p:cNvPr>
          <p:cNvPicPr>
            <a:picLocks noChangeAspect="1"/>
          </p:cNvPicPr>
          <p:nvPr/>
        </p:nvPicPr>
        <p:blipFill>
          <a:blip r:embed="rId3"/>
          <a:stretch>
            <a:fillRect/>
          </a:stretch>
        </p:blipFill>
        <p:spPr>
          <a:xfrm>
            <a:off x="0" y="-132082"/>
            <a:ext cx="9144000" cy="5275581"/>
          </a:xfrm>
          <a:prstGeom prst="rect">
            <a:avLst/>
          </a:prstGeom>
          <a:effectLst>
            <a:innerShdw blurRad="63500" dist="50800" dir="8100000">
              <a:schemeClr val="bg1">
                <a:alpha val="50000"/>
              </a:schemeClr>
            </a:innerShdw>
          </a:effectLst>
        </p:spPr>
      </p:pic>
      <p:sp>
        <p:nvSpPr>
          <p:cNvPr id="63" name="Google Shape;63;p14">
            <a:extLst>
              <a:ext uri="{FF2B5EF4-FFF2-40B4-BE49-F238E27FC236}">
                <a16:creationId xmlns:a16="http://schemas.microsoft.com/office/drawing/2014/main" id="{059758CE-D48E-F864-DA3D-931A0B109103}"/>
              </a:ext>
            </a:extLst>
          </p:cNvPr>
          <p:cNvSpPr txBox="1">
            <a:spLocks noGrp="1"/>
          </p:cNvSpPr>
          <p:nvPr>
            <p:ph type="title"/>
          </p:nvPr>
        </p:nvSpPr>
        <p:spPr>
          <a:xfrm>
            <a:off x="985629" y="212801"/>
            <a:ext cx="6587987"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Budget et Revenu</a:t>
            </a: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sp>
        <p:nvSpPr>
          <p:cNvPr id="67" name="Google Shape;67;p14">
            <a:extLst>
              <a:ext uri="{FF2B5EF4-FFF2-40B4-BE49-F238E27FC236}">
                <a16:creationId xmlns:a16="http://schemas.microsoft.com/office/drawing/2014/main" id="{A578788E-0EE7-B50D-BB79-207CF1653BC5}"/>
              </a:ext>
            </a:extLst>
          </p:cNvPr>
          <p:cNvSpPr txBox="1">
            <a:spLocks noGrp="1"/>
          </p:cNvSpPr>
          <p:nvPr>
            <p:ph type="sldNum" idx="12"/>
          </p:nvPr>
        </p:nvSpPr>
        <p:spPr>
          <a:xfrm>
            <a:off x="8561857" y="473389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fr">
                <a:solidFill>
                  <a:schemeClr val="bg1">
                    <a:lumMod val="75000"/>
                  </a:schemeClr>
                </a:solidFill>
              </a:rPr>
              <a:t>9</a:t>
            </a:fld>
            <a:endParaRPr dirty="0">
              <a:solidFill>
                <a:schemeClr val="bg1">
                  <a:lumMod val="75000"/>
                </a:schemeClr>
              </a:solidFill>
            </a:endParaRPr>
          </a:p>
        </p:txBody>
      </p:sp>
      <p:pic>
        <p:nvPicPr>
          <p:cNvPr id="64" name="Google Shape;64;p14">
            <a:extLst>
              <a:ext uri="{FF2B5EF4-FFF2-40B4-BE49-F238E27FC236}">
                <a16:creationId xmlns:a16="http://schemas.microsoft.com/office/drawing/2014/main" id="{121FDFDE-8BE4-F8A0-BC9F-4AE28CA9541A}"/>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34F46CB7-9AED-583D-10A4-86F9466089FB}"/>
              </a:ext>
            </a:extLst>
          </p:cNvPr>
          <p:cNvPicPr>
            <a:picLocks noChangeAspect="1"/>
          </p:cNvPicPr>
          <p:nvPr/>
        </p:nvPicPr>
        <p:blipFill>
          <a:blip r:embed="rId5"/>
          <a:stretch>
            <a:fillRect/>
          </a:stretch>
        </p:blipFill>
        <p:spPr>
          <a:xfrm>
            <a:off x="8477547" y="150980"/>
            <a:ext cx="535259" cy="574296"/>
          </a:xfrm>
          <a:prstGeom prst="rect">
            <a:avLst/>
          </a:prstGeom>
        </p:spPr>
      </p:pic>
      <p:pic>
        <p:nvPicPr>
          <p:cNvPr id="6" name="Image 5" descr="Une image contenant texte, capture d’écran, conception&#10;&#10;Le contenu généré par l’IA peut être incorrect.">
            <a:extLst>
              <a:ext uri="{FF2B5EF4-FFF2-40B4-BE49-F238E27FC236}">
                <a16:creationId xmlns:a16="http://schemas.microsoft.com/office/drawing/2014/main" id="{EC520346-63EA-79A7-273B-1A15F6EA6D63}"/>
              </a:ext>
            </a:extLst>
          </p:cNvPr>
          <p:cNvPicPr>
            <a:picLocks noChangeAspect="1"/>
          </p:cNvPicPr>
          <p:nvPr/>
        </p:nvPicPr>
        <p:blipFill>
          <a:blip r:embed="rId6"/>
          <a:stretch>
            <a:fillRect/>
          </a:stretch>
        </p:blipFill>
        <p:spPr>
          <a:xfrm>
            <a:off x="3621848" y="800557"/>
            <a:ext cx="2618225" cy="1478313"/>
          </a:xfrm>
          <a:prstGeom prst="rect">
            <a:avLst/>
          </a:prstGeom>
          <a:effectLst>
            <a:innerShdw blurRad="63500" dist="50800" dir="18900000">
              <a:schemeClr val="bg1">
                <a:alpha val="50000"/>
              </a:schemeClr>
            </a:innerShdw>
          </a:effectLst>
        </p:spPr>
      </p:pic>
      <p:pic>
        <p:nvPicPr>
          <p:cNvPr id="9" name="Image 8" descr="Une image contenant texte, capture d’écran, conception&#10;&#10;Le contenu généré par l’IA peut être incorrect.">
            <a:extLst>
              <a:ext uri="{FF2B5EF4-FFF2-40B4-BE49-F238E27FC236}">
                <a16:creationId xmlns:a16="http://schemas.microsoft.com/office/drawing/2014/main" id="{60BFD7A6-B878-1183-0C1E-D4CEB4C62DBE}"/>
              </a:ext>
            </a:extLst>
          </p:cNvPr>
          <p:cNvPicPr>
            <a:picLocks noChangeAspect="1"/>
          </p:cNvPicPr>
          <p:nvPr/>
        </p:nvPicPr>
        <p:blipFill>
          <a:blip r:embed="rId7"/>
          <a:srcRect t="3344" b="1249"/>
          <a:stretch>
            <a:fillRect/>
          </a:stretch>
        </p:blipFill>
        <p:spPr>
          <a:xfrm>
            <a:off x="267630" y="782820"/>
            <a:ext cx="3205800" cy="1478313"/>
          </a:xfrm>
          <a:prstGeom prst="rect">
            <a:avLst/>
          </a:prstGeom>
          <a:effectLst>
            <a:innerShdw blurRad="63500" dist="50800" dir="18900000">
              <a:schemeClr val="bg1">
                <a:alpha val="50000"/>
              </a:schemeClr>
            </a:innerShdw>
          </a:effectLst>
        </p:spPr>
      </p:pic>
      <p:pic>
        <p:nvPicPr>
          <p:cNvPr id="12" name="Image 11" descr="Une image contenant texte, capture d’écran, musique, conception&#10;&#10;Le contenu généré par l’IA peut être incorrect.">
            <a:extLst>
              <a:ext uri="{FF2B5EF4-FFF2-40B4-BE49-F238E27FC236}">
                <a16:creationId xmlns:a16="http://schemas.microsoft.com/office/drawing/2014/main" id="{6B95EE98-89EF-12AE-8668-6F7335587A99}"/>
              </a:ext>
            </a:extLst>
          </p:cNvPr>
          <p:cNvPicPr>
            <a:picLocks noChangeAspect="1"/>
          </p:cNvPicPr>
          <p:nvPr/>
        </p:nvPicPr>
        <p:blipFill>
          <a:blip r:embed="rId8"/>
          <a:srcRect t="1965"/>
          <a:stretch>
            <a:fillRect/>
          </a:stretch>
        </p:blipFill>
        <p:spPr>
          <a:xfrm>
            <a:off x="267630" y="2298053"/>
            <a:ext cx="8745176" cy="2506076"/>
          </a:xfrm>
          <a:prstGeom prst="rect">
            <a:avLst/>
          </a:prstGeom>
          <a:effectLst>
            <a:innerShdw blurRad="63500" dist="50800" dir="18900000">
              <a:schemeClr val="bg1">
                <a:alpha val="50000"/>
              </a:schemeClr>
            </a:innerShdw>
          </a:effectLst>
        </p:spPr>
      </p:pic>
      <p:pic>
        <p:nvPicPr>
          <p:cNvPr id="21" name="Image 20" descr="Une image contenant texte, capture d’écran, Police">
            <a:extLst>
              <a:ext uri="{FF2B5EF4-FFF2-40B4-BE49-F238E27FC236}">
                <a16:creationId xmlns:a16="http://schemas.microsoft.com/office/drawing/2014/main" id="{44808E29-C876-E24B-ACAE-044DD15F4D61}"/>
              </a:ext>
            </a:extLst>
          </p:cNvPr>
          <p:cNvPicPr>
            <a:picLocks noChangeAspect="1"/>
          </p:cNvPicPr>
          <p:nvPr/>
        </p:nvPicPr>
        <p:blipFill>
          <a:blip r:embed="rId9"/>
          <a:stretch>
            <a:fillRect/>
          </a:stretch>
        </p:blipFill>
        <p:spPr>
          <a:xfrm>
            <a:off x="6388491" y="782820"/>
            <a:ext cx="2577587" cy="1478313"/>
          </a:xfrm>
          <a:prstGeom prst="rect">
            <a:avLst/>
          </a:prstGeom>
          <a:effectLst>
            <a:innerShdw blurRad="63500" dist="50800" dir="18900000">
              <a:schemeClr val="bg1">
                <a:alpha val="50000"/>
              </a:schemeClr>
            </a:innerShdw>
          </a:effectLst>
        </p:spPr>
      </p:pic>
    </p:spTree>
    <p:extLst>
      <p:ext uri="{BB962C8B-B14F-4D97-AF65-F5344CB8AC3E}">
        <p14:creationId xmlns:p14="http://schemas.microsoft.com/office/powerpoint/2010/main" val="363360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B8BDCC2E-1E52-1978-C9B2-BDED361D0462}"/>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92943F36-903D-35E2-0B2C-7E514D924D2E}"/>
              </a:ext>
            </a:extLst>
          </p:cNvPr>
          <p:cNvPicPr>
            <a:picLocks noChangeAspect="1"/>
          </p:cNvPicPr>
          <p:nvPr/>
        </p:nvPicPr>
        <p:blipFill>
          <a:blip r:embed="rId3"/>
          <a:stretch>
            <a:fillRect/>
          </a:stretch>
        </p:blipFill>
        <p:spPr>
          <a:xfrm>
            <a:off x="0" y="-4263"/>
            <a:ext cx="9144000" cy="5275581"/>
          </a:xfrm>
          <a:prstGeom prst="rect">
            <a:avLst/>
          </a:prstGeom>
          <a:effectLst>
            <a:innerShdw blurRad="63500" dist="50800" dir="8100000">
              <a:schemeClr val="bg1">
                <a:alpha val="50000"/>
              </a:schemeClr>
            </a:innerShdw>
          </a:effectLst>
        </p:spPr>
      </p:pic>
      <p:sp>
        <p:nvSpPr>
          <p:cNvPr id="63" name="Google Shape;63;p14">
            <a:extLst>
              <a:ext uri="{FF2B5EF4-FFF2-40B4-BE49-F238E27FC236}">
                <a16:creationId xmlns:a16="http://schemas.microsoft.com/office/drawing/2014/main" id="{34FCEAE3-C6B5-A534-2719-C322D49DF0BF}"/>
              </a:ext>
            </a:extLst>
          </p:cNvPr>
          <p:cNvSpPr txBox="1">
            <a:spLocks noGrp="1"/>
          </p:cNvSpPr>
          <p:nvPr>
            <p:ph type="title"/>
          </p:nvPr>
        </p:nvSpPr>
        <p:spPr>
          <a:xfrm>
            <a:off x="985629" y="212801"/>
            <a:ext cx="6587987"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fr" sz="2500" u="sng" dirty="0">
                <a:solidFill>
                  <a:schemeClr val="bg1"/>
                </a:solidFill>
                <a:latin typeface="Inter SemiBold"/>
                <a:ea typeface="Inter SemiBold"/>
                <a:cs typeface="Inter SemiBold"/>
                <a:sym typeface="Inter SemiBold"/>
              </a:rPr>
              <a:t>Recommandations</a:t>
            </a: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pic>
        <p:nvPicPr>
          <p:cNvPr id="64" name="Google Shape;64;p14">
            <a:extLst>
              <a:ext uri="{FF2B5EF4-FFF2-40B4-BE49-F238E27FC236}">
                <a16:creationId xmlns:a16="http://schemas.microsoft.com/office/drawing/2014/main" id="{4FDBD9F8-0C6A-D818-793D-C3BC01CA9D32}"/>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31ACA839-98C6-4DDE-A5B3-0AC00B289EB8}"/>
              </a:ext>
            </a:extLst>
          </p:cNvPr>
          <p:cNvPicPr>
            <a:picLocks noChangeAspect="1"/>
          </p:cNvPicPr>
          <p:nvPr/>
        </p:nvPicPr>
        <p:blipFill>
          <a:blip r:embed="rId5"/>
          <a:stretch>
            <a:fillRect/>
          </a:stretch>
        </p:blipFill>
        <p:spPr>
          <a:xfrm>
            <a:off x="8477547" y="150980"/>
            <a:ext cx="535259" cy="574296"/>
          </a:xfrm>
          <a:prstGeom prst="rect">
            <a:avLst/>
          </a:prstGeom>
        </p:spPr>
      </p:pic>
      <p:sp>
        <p:nvSpPr>
          <p:cNvPr id="3" name="Google Shape;246;p21">
            <a:extLst>
              <a:ext uri="{FF2B5EF4-FFF2-40B4-BE49-F238E27FC236}">
                <a16:creationId xmlns:a16="http://schemas.microsoft.com/office/drawing/2014/main" id="{5C114024-D375-C1ED-8817-49DF048F9F56}"/>
              </a:ext>
            </a:extLst>
          </p:cNvPr>
          <p:cNvSpPr txBox="1">
            <a:spLocks/>
          </p:cNvSpPr>
          <p:nvPr/>
        </p:nvSpPr>
        <p:spPr>
          <a:xfrm>
            <a:off x="4389858" y="5372942"/>
            <a:ext cx="540888" cy="751733"/>
          </a:xfrm>
          <a:prstGeom prst="rect">
            <a:avLst/>
          </a:prstGeom>
        </p:spPr>
        <p:txBody>
          <a:bodyPr spcFirstLastPara="1" vert="horz" wrap="square" lIns="91425" tIns="91425" rIns="91425" bIns="91425" rtlCol="0" anchor="ctr" anchorCtr="0">
            <a:noAutofit/>
          </a:bodyPr>
          <a:lstStyle>
            <a:defPPr>
              <a:defRPr lang="fr-FR"/>
            </a:defPPr>
            <a:lvl1pPr marL="0" lvl="0" algn="r" defTabSz="914400" rtl="0" eaLnBrk="1" latinLnBrk="0" hangingPunct="1">
              <a:buNone/>
              <a:defRPr sz="900" kern="1200">
                <a:solidFill>
                  <a:schemeClr val="tx1">
                    <a:tint val="82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00000000-1234-1234-1234-123412341234}" type="slidenum">
              <a:rPr lang="fr" smtClean="0">
                <a:solidFill>
                  <a:schemeClr val="lt1"/>
                </a:solidFill>
              </a:rPr>
              <a:pPr/>
              <a:t>10</a:t>
            </a:fld>
            <a:endParaRPr lang="fr" dirty="0">
              <a:solidFill>
                <a:schemeClr val="lt1"/>
              </a:solidFill>
            </a:endParaRPr>
          </a:p>
        </p:txBody>
      </p:sp>
      <p:sp>
        <p:nvSpPr>
          <p:cNvPr id="11" name="Google Shape;213;p21">
            <a:extLst>
              <a:ext uri="{FF2B5EF4-FFF2-40B4-BE49-F238E27FC236}">
                <a16:creationId xmlns:a16="http://schemas.microsoft.com/office/drawing/2014/main" id="{541B3D18-B825-DBA8-1709-BA075FB0A237}"/>
              </a:ext>
            </a:extLst>
          </p:cNvPr>
          <p:cNvSpPr/>
          <p:nvPr/>
        </p:nvSpPr>
        <p:spPr>
          <a:xfrm flipH="1">
            <a:off x="2362095" y="950807"/>
            <a:ext cx="2070075" cy="1581179"/>
          </a:xfrm>
          <a:prstGeom prst="round2DiagRect">
            <a:avLst>
              <a:gd name="adj1" fmla="val 0"/>
              <a:gd name="adj2" fmla="val 17764"/>
            </a:avLst>
          </a:prstGeom>
          <a:solidFill>
            <a:srgbClr val="5F0801"/>
          </a:solid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Wingdings" panose="05000000000000000000" pitchFamily="2" charset="2"/>
              <a:buChar char="ü"/>
            </a:pPr>
            <a:r>
              <a:rPr lang="fr-FR" dirty="0">
                <a:solidFill>
                  <a:schemeClr val="bg1">
                    <a:lumMod val="85000"/>
                  </a:schemeClr>
                </a:solidFill>
                <a:latin typeface="Abadi" panose="020B0604020104020204" pitchFamily="34" charset="0"/>
              </a:rPr>
              <a:t>Rééquilibrage du Catalogue </a:t>
            </a:r>
          </a:p>
          <a:p>
            <a:pPr marL="285750" lvl="0" indent="-285750" algn="l" rtl="0">
              <a:spcBef>
                <a:spcPts val="0"/>
              </a:spcBef>
              <a:spcAft>
                <a:spcPts val="0"/>
              </a:spcAft>
              <a:buFont typeface="Wingdings" panose="05000000000000000000" pitchFamily="2" charset="2"/>
              <a:buChar char="ü"/>
            </a:pPr>
            <a:r>
              <a:rPr lang="fr-FR" dirty="0">
                <a:solidFill>
                  <a:schemeClr val="bg1">
                    <a:lumMod val="85000"/>
                  </a:schemeClr>
                </a:solidFill>
                <a:latin typeface="Abadi" panose="020B0604020104020204" pitchFamily="34" charset="0"/>
              </a:rPr>
              <a:t>Diversification de l’origine géographique</a:t>
            </a:r>
            <a:endParaRPr dirty="0">
              <a:solidFill>
                <a:schemeClr val="bg1">
                  <a:lumMod val="85000"/>
                </a:schemeClr>
              </a:solidFill>
              <a:latin typeface="Abadi" panose="020B0604020104020204" pitchFamily="34" charset="0"/>
            </a:endParaRPr>
          </a:p>
        </p:txBody>
      </p:sp>
      <p:grpSp>
        <p:nvGrpSpPr>
          <p:cNvPr id="14" name="Google Shape;215;p21">
            <a:extLst>
              <a:ext uri="{FF2B5EF4-FFF2-40B4-BE49-F238E27FC236}">
                <a16:creationId xmlns:a16="http://schemas.microsoft.com/office/drawing/2014/main" id="{B4D3931E-B1AE-08EF-B3A5-E7510E00BE15}"/>
              </a:ext>
            </a:extLst>
          </p:cNvPr>
          <p:cNvGrpSpPr/>
          <p:nvPr/>
        </p:nvGrpSpPr>
        <p:grpSpPr>
          <a:xfrm>
            <a:off x="291264" y="950812"/>
            <a:ext cx="2041322" cy="1581181"/>
            <a:chOff x="1126863" y="2013875"/>
            <a:chExt cx="1944600" cy="1569600"/>
          </a:xfrm>
          <a:solidFill>
            <a:schemeClr val="tx1"/>
          </a:solidFill>
        </p:grpSpPr>
        <p:sp>
          <p:nvSpPr>
            <p:cNvPr id="15" name="Google Shape;216;p21">
              <a:extLst>
                <a:ext uri="{FF2B5EF4-FFF2-40B4-BE49-F238E27FC236}">
                  <a16:creationId xmlns:a16="http://schemas.microsoft.com/office/drawing/2014/main" id="{541DF479-99EA-E34A-3EA0-AED9B94E06B7}"/>
                </a:ext>
              </a:extLst>
            </p:cNvPr>
            <p:cNvSpPr/>
            <p:nvPr/>
          </p:nvSpPr>
          <p:spPr>
            <a:xfrm>
              <a:off x="1126863" y="2013875"/>
              <a:ext cx="1944600" cy="1569600"/>
            </a:xfrm>
            <a:prstGeom prst="round2DiagRect">
              <a:avLst>
                <a:gd name="adj1" fmla="val 0"/>
                <a:gd name="adj2" fmla="val 17764"/>
              </a:avLst>
            </a:prstGeom>
            <a:grp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700" dirty="0">
                <a:solidFill>
                  <a:schemeClr val="bg1"/>
                </a:solidFill>
                <a:latin typeface="Abadi" panose="020B0604020104020204" pitchFamily="34" charset="0"/>
              </a:endParaRPr>
            </a:p>
          </p:txBody>
        </p:sp>
        <p:sp>
          <p:nvSpPr>
            <p:cNvPr id="16" name="Google Shape;217;p21">
              <a:extLst>
                <a:ext uri="{FF2B5EF4-FFF2-40B4-BE49-F238E27FC236}">
                  <a16:creationId xmlns:a16="http://schemas.microsoft.com/office/drawing/2014/main" id="{5D08BB88-4D68-F108-4532-69AB7A149E71}"/>
                </a:ext>
              </a:extLst>
            </p:cNvPr>
            <p:cNvSpPr txBox="1"/>
            <p:nvPr/>
          </p:nvSpPr>
          <p:spPr>
            <a:xfrm>
              <a:off x="1351650" y="2491688"/>
              <a:ext cx="1451700" cy="512400"/>
            </a:xfrm>
            <a:prstGeom prst="rect">
              <a:avLst/>
            </a:prstGeom>
            <a:grp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fr" b="1" dirty="0">
                  <a:solidFill>
                    <a:schemeClr val="bg1"/>
                  </a:solidFill>
                  <a:latin typeface="Roboto"/>
                  <a:ea typeface="Roboto"/>
                  <a:cs typeface="Roboto"/>
                  <a:sym typeface="Roboto"/>
                </a:rPr>
                <a:t>CATALOGUE </a:t>
              </a:r>
              <a:endParaRPr b="1" dirty="0">
                <a:solidFill>
                  <a:schemeClr val="bg1"/>
                </a:solidFill>
                <a:latin typeface="Roboto"/>
                <a:ea typeface="Roboto"/>
                <a:cs typeface="Roboto"/>
                <a:sym typeface="Roboto"/>
              </a:endParaRPr>
            </a:p>
          </p:txBody>
        </p:sp>
      </p:grpSp>
      <p:sp>
        <p:nvSpPr>
          <p:cNvPr id="18" name="Google Shape;219;p21">
            <a:extLst>
              <a:ext uri="{FF2B5EF4-FFF2-40B4-BE49-F238E27FC236}">
                <a16:creationId xmlns:a16="http://schemas.microsoft.com/office/drawing/2014/main" id="{6F905668-B004-6B09-D4CB-1B486E207ED2}"/>
              </a:ext>
            </a:extLst>
          </p:cNvPr>
          <p:cNvSpPr/>
          <p:nvPr/>
        </p:nvSpPr>
        <p:spPr>
          <a:xfrm>
            <a:off x="4471164" y="962965"/>
            <a:ext cx="4507228" cy="1581181"/>
          </a:xfrm>
          <a:prstGeom prst="round2DiagRect">
            <a:avLst>
              <a:gd name="adj1" fmla="val 0"/>
              <a:gd name="adj2" fmla="val 17764"/>
            </a:avLst>
          </a:prstGeom>
          <a:solidFill>
            <a:schemeClr val="lt1"/>
          </a:solidFill>
          <a:ln w="9525" cap="flat" cmpd="sng">
            <a:solidFill>
              <a:schemeClr val="bg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171450" indent="-171450" algn="ctr">
              <a:buFont typeface="Arial" panose="020B0604020202020204" pitchFamily="34" charset="0"/>
              <a:buChar char="•"/>
            </a:pPr>
            <a:endParaRPr lang="fr-FR" sz="1200" dirty="0"/>
          </a:p>
          <a:p>
            <a:pPr marL="171450" indent="-171450" algn="ctr">
              <a:buFont typeface="Arial" panose="020B0604020202020204" pitchFamily="34" charset="0"/>
              <a:buChar char="•"/>
            </a:pPr>
            <a:r>
              <a:rPr lang="fr-FR" b="1" dirty="0"/>
              <a:t>Renforcement de la part des séries et des genres à forte popularité</a:t>
            </a:r>
          </a:p>
          <a:p>
            <a:pPr marL="171450" indent="-171450" algn="ctr">
              <a:buFont typeface="Arial" panose="020B0604020202020204" pitchFamily="34" charset="0"/>
              <a:buChar char="•"/>
            </a:pPr>
            <a:r>
              <a:rPr lang="fr-FR" b="1" dirty="0"/>
              <a:t>Diversification des contenus pour élargir l’audience et réduire la dépendance aux productions US</a:t>
            </a:r>
          </a:p>
        </p:txBody>
      </p:sp>
      <p:sp>
        <p:nvSpPr>
          <p:cNvPr id="25" name="Google Shape;225;p21">
            <a:extLst>
              <a:ext uri="{FF2B5EF4-FFF2-40B4-BE49-F238E27FC236}">
                <a16:creationId xmlns:a16="http://schemas.microsoft.com/office/drawing/2014/main" id="{CF01F70D-8F1D-7025-0FEC-4A8F6185BCFA}"/>
              </a:ext>
            </a:extLst>
          </p:cNvPr>
          <p:cNvSpPr/>
          <p:nvPr/>
        </p:nvSpPr>
        <p:spPr>
          <a:xfrm rot="10800000" flipH="1">
            <a:off x="2367595" y="3030015"/>
            <a:ext cx="2057405" cy="2080851"/>
          </a:xfrm>
          <a:prstGeom prst="round2DiagRect">
            <a:avLst>
              <a:gd name="adj1" fmla="val 0"/>
              <a:gd name="adj2" fmla="val 17764"/>
            </a:avLst>
          </a:prstGeom>
          <a:solidFill>
            <a:srgbClr val="5F08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28" name="Google Shape;228;p21">
            <a:extLst>
              <a:ext uri="{FF2B5EF4-FFF2-40B4-BE49-F238E27FC236}">
                <a16:creationId xmlns:a16="http://schemas.microsoft.com/office/drawing/2014/main" id="{DB3A7ECF-8BD5-A485-9B97-04815E5C3EA8}"/>
              </a:ext>
            </a:extLst>
          </p:cNvPr>
          <p:cNvSpPr/>
          <p:nvPr/>
        </p:nvSpPr>
        <p:spPr>
          <a:xfrm>
            <a:off x="292020" y="3063007"/>
            <a:ext cx="2070075" cy="2080493"/>
          </a:xfrm>
          <a:prstGeom prst="round2DiagRect">
            <a:avLst>
              <a:gd name="adj1" fmla="val 0"/>
              <a:gd name="adj2" fmla="val 17764"/>
            </a:avLst>
          </a:prstGeom>
          <a:solidFill>
            <a:schemeClr val="tx1"/>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r>
              <a:rPr lang="fr-FR" sz="1900" b="1" dirty="0">
                <a:solidFill>
                  <a:schemeClr val="bg1"/>
                </a:solidFill>
                <a:latin typeface="Abadi" panose="020B0604020104020204" pitchFamily="34" charset="0"/>
              </a:rPr>
              <a:t> PRODUCTION </a:t>
            </a:r>
            <a:endParaRPr sz="1900" b="1" dirty="0">
              <a:solidFill>
                <a:schemeClr val="bg1"/>
              </a:solidFill>
              <a:latin typeface="Abadi" panose="020B0604020104020204" pitchFamily="34" charset="0"/>
            </a:endParaRPr>
          </a:p>
        </p:txBody>
      </p:sp>
      <p:sp>
        <p:nvSpPr>
          <p:cNvPr id="39" name="Google Shape;239;p21">
            <a:extLst>
              <a:ext uri="{FF2B5EF4-FFF2-40B4-BE49-F238E27FC236}">
                <a16:creationId xmlns:a16="http://schemas.microsoft.com/office/drawing/2014/main" id="{33F8F36B-B170-6CFD-3F66-087B47AEA8B5}"/>
              </a:ext>
            </a:extLst>
          </p:cNvPr>
          <p:cNvSpPr/>
          <p:nvPr/>
        </p:nvSpPr>
        <p:spPr>
          <a:xfrm>
            <a:off x="4505578" y="3029911"/>
            <a:ext cx="4507228" cy="2080955"/>
          </a:xfrm>
          <a:prstGeom prst="round2DiagRect">
            <a:avLst>
              <a:gd name="adj1" fmla="val 2637"/>
              <a:gd name="adj2" fmla="val 17764"/>
            </a:avLst>
          </a:prstGeom>
          <a:solidFill>
            <a:schemeClr val="lt1"/>
          </a:solidFill>
          <a:ln w="9525" cap="flat" cmpd="sng">
            <a:solidFill>
              <a:schemeClr val="bg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508000" lvl="0" indent="-342900">
              <a:buClr>
                <a:schemeClr val="tx1"/>
              </a:buClr>
              <a:buSzPts val="1000"/>
              <a:buFont typeface="Arial" panose="020B0604020202020204" pitchFamily="34" charset="0"/>
              <a:buChar char="•"/>
            </a:pPr>
            <a:endParaRPr lang="fr-FR" sz="1500" b="1" dirty="0"/>
          </a:p>
          <a:p>
            <a:pPr marL="457200" lvl="0" indent="-292100">
              <a:buClr>
                <a:schemeClr val="tx1"/>
              </a:buClr>
              <a:buSzPts val="1000"/>
              <a:buFont typeface="Arial" panose="020B0604020202020204" pitchFamily="34" charset="0"/>
              <a:buChar char="•"/>
            </a:pPr>
            <a:r>
              <a:rPr lang="fr-FR" sz="1500" b="1" dirty="0"/>
              <a:t>Se concentrer sur les genres offrant le meilleur ratio budget / score / revenu</a:t>
            </a:r>
          </a:p>
          <a:p>
            <a:pPr marL="457200" indent="-292100">
              <a:buClr>
                <a:schemeClr val="tx1"/>
              </a:buClr>
              <a:buSzPts val="1000"/>
              <a:buFont typeface="Arial" panose="020B0604020202020204" pitchFamily="34" charset="0"/>
              <a:buChar char="•"/>
            </a:pPr>
            <a:r>
              <a:rPr lang="fr-FR" sz="1500" b="1" dirty="0"/>
              <a:t>Identifier les Acteurs/Réalisateurs ayant un impact positif sur les scores</a:t>
            </a:r>
          </a:p>
          <a:p>
            <a:pPr marL="457200" indent="-292100">
              <a:buClr>
                <a:schemeClr val="tx1"/>
              </a:buClr>
              <a:buSzPts val="1000"/>
              <a:buFont typeface="Arial" panose="020B0604020202020204" pitchFamily="34" charset="0"/>
              <a:buChar char="•"/>
            </a:pPr>
            <a:r>
              <a:rPr lang="fr-FR" sz="1500" b="1" dirty="0"/>
              <a:t>Limiter les productions à gros budgets à faible score, souvent peu rentables.</a:t>
            </a:r>
            <a:br>
              <a:rPr lang="fr" sz="1000" dirty="0">
                <a:latin typeface="Abadi" panose="020B0604020104020204" pitchFamily="34" charset="0"/>
              </a:rPr>
            </a:br>
            <a:endParaRPr sz="1000" dirty="0">
              <a:latin typeface="Abadi" panose="020B0604020104020204" pitchFamily="34" charset="0"/>
            </a:endParaRPr>
          </a:p>
        </p:txBody>
      </p:sp>
      <p:grpSp>
        <p:nvGrpSpPr>
          <p:cNvPr id="40" name="Google Shape;240;p21">
            <a:extLst>
              <a:ext uri="{FF2B5EF4-FFF2-40B4-BE49-F238E27FC236}">
                <a16:creationId xmlns:a16="http://schemas.microsoft.com/office/drawing/2014/main" id="{FC445C5F-415D-46C2-9B13-19BBF9CF6135}"/>
              </a:ext>
            </a:extLst>
          </p:cNvPr>
          <p:cNvGrpSpPr/>
          <p:nvPr/>
        </p:nvGrpSpPr>
        <p:grpSpPr>
          <a:xfrm>
            <a:off x="4339848" y="3796160"/>
            <a:ext cx="331459" cy="309902"/>
            <a:chOff x="4858109" y="2631368"/>
            <a:chExt cx="316442" cy="315000"/>
          </a:xfrm>
        </p:grpSpPr>
        <p:sp>
          <p:nvSpPr>
            <p:cNvPr id="41" name="Google Shape;241;p21">
              <a:extLst>
                <a:ext uri="{FF2B5EF4-FFF2-40B4-BE49-F238E27FC236}">
                  <a16:creationId xmlns:a16="http://schemas.microsoft.com/office/drawing/2014/main" id="{AB342B97-0622-24EA-C757-D24DD9913024}"/>
                </a:ext>
              </a:extLst>
            </p:cNvPr>
            <p:cNvSpPr/>
            <p:nvPr/>
          </p:nvSpPr>
          <p:spPr>
            <a:xfrm>
              <a:off x="4859551" y="2631368"/>
              <a:ext cx="315000" cy="315000"/>
            </a:xfrm>
            <a:prstGeom prst="ellipse">
              <a:avLst/>
            </a:prstGeom>
            <a:solidFill>
              <a:srgbClr val="FFFFFF"/>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42" name="Google Shape;242;p21">
              <a:extLst>
                <a:ext uri="{FF2B5EF4-FFF2-40B4-BE49-F238E27FC236}">
                  <a16:creationId xmlns:a16="http://schemas.microsoft.com/office/drawing/2014/main" id="{ED450CEB-598B-A45D-6205-98F353C8255B}"/>
                </a:ext>
              </a:extLst>
            </p:cNvPr>
            <p:cNvSpPr/>
            <p:nvPr/>
          </p:nvSpPr>
          <p:spPr>
            <a:xfrm>
              <a:off x="4858109" y="2739300"/>
              <a:ext cx="239100" cy="99000"/>
            </a:xfrm>
            <a:prstGeom prst="rightArrow">
              <a:avLst>
                <a:gd name="adj1" fmla="val 32020"/>
                <a:gd name="adj2" fmla="val 66970"/>
              </a:avLst>
            </a:prstGeom>
            <a:solidFill>
              <a:srgbClr val="07376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br>
                <a:rPr lang="fr" dirty="0">
                  <a:latin typeface="Abadi" panose="020B0604020104020204" pitchFamily="34" charset="0"/>
                </a:rPr>
              </a:br>
              <a:endParaRPr dirty="0">
                <a:latin typeface="Abadi" panose="020B0604020104020204" pitchFamily="34" charset="0"/>
              </a:endParaRPr>
            </a:p>
          </p:txBody>
        </p:sp>
      </p:grpSp>
      <p:sp>
        <p:nvSpPr>
          <p:cNvPr id="47" name="Espace réservé du numéro de diapositive 1">
            <a:extLst>
              <a:ext uri="{FF2B5EF4-FFF2-40B4-BE49-F238E27FC236}">
                <a16:creationId xmlns:a16="http://schemas.microsoft.com/office/drawing/2014/main" id="{038799F5-9F52-1467-9912-13AB80D66DE6}"/>
              </a:ext>
            </a:extLst>
          </p:cNvPr>
          <p:cNvSpPr txBox="1">
            <a:spLocks/>
          </p:cNvSpPr>
          <p:nvPr/>
        </p:nvSpPr>
        <p:spPr>
          <a:xfrm>
            <a:off x="8615199" y="5390299"/>
            <a:ext cx="527639" cy="729940"/>
          </a:xfrm>
          <a:prstGeom prst="rect">
            <a:avLst/>
          </a:prstGeom>
        </p:spPr>
        <p:txBody>
          <a:bodyPr spcFirstLastPara="1" vert="horz" wrap="square" lIns="91425" tIns="91425" rIns="91425" bIns="91425" rtlCol="0" anchor="ctr" anchorCtr="0">
            <a:noAutofit/>
          </a:bodyPr>
          <a:lstStyle>
            <a:defPPr>
              <a:defRPr lang="fr-FR"/>
            </a:defPPr>
            <a:lvl1pPr marL="0" lvl="0" algn="r" defTabSz="914400" rtl="0" eaLnBrk="1" latinLnBrk="0" hangingPunct="1">
              <a:buNone/>
              <a:defRPr sz="900" kern="1200">
                <a:solidFill>
                  <a:schemeClr val="tx1">
                    <a:tint val="82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endParaRPr lang="fr-FR" dirty="0"/>
          </a:p>
        </p:txBody>
      </p:sp>
      <p:sp>
        <p:nvSpPr>
          <p:cNvPr id="50" name="ZoneTexte 49">
            <a:extLst>
              <a:ext uri="{FF2B5EF4-FFF2-40B4-BE49-F238E27FC236}">
                <a16:creationId xmlns:a16="http://schemas.microsoft.com/office/drawing/2014/main" id="{D471C9B5-E6E0-D2E5-53A0-E018C93A5C9A}"/>
              </a:ext>
            </a:extLst>
          </p:cNvPr>
          <p:cNvSpPr txBox="1"/>
          <p:nvPr/>
        </p:nvSpPr>
        <p:spPr>
          <a:xfrm>
            <a:off x="2448172" y="3167624"/>
            <a:ext cx="1896250" cy="1969770"/>
          </a:xfrm>
          <a:prstGeom prst="rect">
            <a:avLst/>
          </a:prstGeom>
          <a:noFill/>
        </p:spPr>
        <p:txBody>
          <a:bodyPr wrap="square">
            <a:spAutoFit/>
          </a:bodyPr>
          <a:lstStyle/>
          <a:p>
            <a:pPr marL="285750" lvl="0" indent="-285750">
              <a:spcAft>
                <a:spcPts val="1200"/>
              </a:spcAft>
              <a:buFont typeface="Wingdings" panose="05000000000000000000" pitchFamily="2" charset="2"/>
              <a:buChar char="ü"/>
            </a:pPr>
            <a:r>
              <a:rPr lang="fr-FR" sz="1600" dirty="0">
                <a:solidFill>
                  <a:schemeClr val="bg1">
                    <a:lumMod val="85000"/>
                  </a:schemeClr>
                </a:solidFill>
                <a:latin typeface="Abadi" panose="020B0604020104020204" pitchFamily="34" charset="0"/>
              </a:rPr>
              <a:t>Optimisation des investissements </a:t>
            </a:r>
            <a:endParaRPr lang="fr" sz="1600" dirty="0">
              <a:solidFill>
                <a:schemeClr val="bg1">
                  <a:lumMod val="85000"/>
                </a:schemeClr>
              </a:solidFill>
              <a:latin typeface="Abadi" panose="020B0604020104020204" pitchFamily="34" charset="0"/>
            </a:endParaRPr>
          </a:p>
          <a:p>
            <a:pPr marL="285750" lvl="0" indent="-285750">
              <a:spcAft>
                <a:spcPts val="1200"/>
              </a:spcAft>
              <a:buFont typeface="Wingdings" panose="05000000000000000000" pitchFamily="2" charset="2"/>
              <a:buChar char="ü"/>
            </a:pPr>
            <a:r>
              <a:rPr lang="fr-FR" sz="1600" dirty="0">
                <a:solidFill>
                  <a:schemeClr val="bg1">
                    <a:lumMod val="85000"/>
                  </a:schemeClr>
                </a:solidFill>
                <a:latin typeface="Abadi" panose="020B0604020104020204" pitchFamily="34" charset="0"/>
              </a:rPr>
              <a:t>Valorisation des réalisateurs et acteurs performants</a:t>
            </a:r>
          </a:p>
        </p:txBody>
      </p:sp>
      <p:grpSp>
        <p:nvGrpSpPr>
          <p:cNvPr id="51" name="Google Shape;240;p21">
            <a:extLst>
              <a:ext uri="{FF2B5EF4-FFF2-40B4-BE49-F238E27FC236}">
                <a16:creationId xmlns:a16="http://schemas.microsoft.com/office/drawing/2014/main" id="{FA81E79F-5CC0-F145-133F-F3E4A709AEB7}"/>
              </a:ext>
            </a:extLst>
          </p:cNvPr>
          <p:cNvGrpSpPr/>
          <p:nvPr/>
        </p:nvGrpSpPr>
        <p:grpSpPr>
          <a:xfrm>
            <a:off x="4274486" y="1586445"/>
            <a:ext cx="331459" cy="309902"/>
            <a:chOff x="4858109" y="2631368"/>
            <a:chExt cx="316442" cy="315000"/>
          </a:xfrm>
        </p:grpSpPr>
        <p:sp>
          <p:nvSpPr>
            <p:cNvPr id="52" name="Google Shape;241;p21">
              <a:extLst>
                <a:ext uri="{FF2B5EF4-FFF2-40B4-BE49-F238E27FC236}">
                  <a16:creationId xmlns:a16="http://schemas.microsoft.com/office/drawing/2014/main" id="{3A75EA6C-5B7F-5EAE-C3F6-5764F99B0BE2}"/>
                </a:ext>
              </a:extLst>
            </p:cNvPr>
            <p:cNvSpPr/>
            <p:nvPr/>
          </p:nvSpPr>
          <p:spPr>
            <a:xfrm>
              <a:off x="4859551" y="2631368"/>
              <a:ext cx="315000" cy="315000"/>
            </a:xfrm>
            <a:prstGeom prst="ellipse">
              <a:avLst/>
            </a:prstGeom>
            <a:solidFill>
              <a:srgbClr val="FFFFFF"/>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B0604020104020204" pitchFamily="34" charset="0"/>
              </a:endParaRPr>
            </a:p>
          </p:txBody>
        </p:sp>
        <p:sp>
          <p:nvSpPr>
            <p:cNvPr id="53" name="Google Shape;242;p21">
              <a:extLst>
                <a:ext uri="{FF2B5EF4-FFF2-40B4-BE49-F238E27FC236}">
                  <a16:creationId xmlns:a16="http://schemas.microsoft.com/office/drawing/2014/main" id="{3D4E2313-857F-3B9F-7F2A-EAA0A9C35766}"/>
                </a:ext>
              </a:extLst>
            </p:cNvPr>
            <p:cNvSpPr/>
            <p:nvPr/>
          </p:nvSpPr>
          <p:spPr>
            <a:xfrm>
              <a:off x="4858109" y="2739300"/>
              <a:ext cx="239100" cy="99000"/>
            </a:xfrm>
            <a:prstGeom prst="rightArrow">
              <a:avLst>
                <a:gd name="adj1" fmla="val 32020"/>
                <a:gd name="adj2" fmla="val 66970"/>
              </a:avLst>
            </a:prstGeom>
            <a:solidFill>
              <a:srgbClr val="073763"/>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br>
                <a:rPr lang="fr" dirty="0">
                  <a:latin typeface="Abadi" panose="020B0604020104020204" pitchFamily="34" charset="0"/>
                </a:rPr>
              </a:br>
              <a:endParaRPr dirty="0">
                <a:latin typeface="Abadi" panose="020B0604020104020204" pitchFamily="34" charset="0"/>
              </a:endParaRPr>
            </a:p>
          </p:txBody>
        </p:sp>
      </p:grpSp>
    </p:spTree>
    <p:extLst>
      <p:ext uri="{BB962C8B-B14F-4D97-AF65-F5344CB8AC3E}">
        <p14:creationId xmlns:p14="http://schemas.microsoft.com/office/powerpoint/2010/main" val="382413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1000"/>
                                        <p:tgtEl>
                                          <p:spTgt spid="51"/>
                                        </p:tgtEl>
                                      </p:cBhvr>
                                    </p:animEffect>
                                    <p:anim calcmode="lin" valueType="num">
                                      <p:cBhvr>
                                        <p:cTn id="20" dur="1000" fill="hold"/>
                                        <p:tgtEl>
                                          <p:spTgt spid="51"/>
                                        </p:tgtEl>
                                        <p:attrNameLst>
                                          <p:attrName>ppt_x</p:attrName>
                                        </p:attrNameLst>
                                      </p:cBhvr>
                                      <p:tavLst>
                                        <p:tav tm="0">
                                          <p:val>
                                            <p:strVal val="#ppt_x"/>
                                          </p:val>
                                        </p:tav>
                                        <p:tav tm="100000">
                                          <p:val>
                                            <p:strVal val="#ppt_x"/>
                                          </p:val>
                                        </p:tav>
                                      </p:tavLst>
                                    </p:anim>
                                    <p:anim calcmode="lin" valueType="num">
                                      <p:cBhvr>
                                        <p:cTn id="21" dur="1000" fill="hold"/>
                                        <p:tgtEl>
                                          <p:spTgt spid="5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1000"/>
                                        <p:tgtEl>
                                          <p:spTgt spid="50"/>
                                        </p:tgtEl>
                                      </p:cBhvr>
                                    </p:animEffect>
                                    <p:anim calcmode="lin" valueType="num">
                                      <p:cBhvr>
                                        <p:cTn id="37" dur="1000" fill="hold"/>
                                        <p:tgtEl>
                                          <p:spTgt spid="50"/>
                                        </p:tgtEl>
                                        <p:attrNameLst>
                                          <p:attrName>ppt_x</p:attrName>
                                        </p:attrNameLst>
                                      </p:cBhvr>
                                      <p:tavLst>
                                        <p:tav tm="0">
                                          <p:val>
                                            <p:strVal val="#ppt_x"/>
                                          </p:val>
                                        </p:tav>
                                        <p:tav tm="100000">
                                          <p:val>
                                            <p:strVal val="#ppt_x"/>
                                          </p:val>
                                        </p:tav>
                                      </p:tavLst>
                                    </p:anim>
                                    <p:anim calcmode="lin" valueType="num">
                                      <p:cBhvr>
                                        <p:cTn id="38" dur="1000" fill="hold"/>
                                        <p:tgtEl>
                                          <p:spTgt spid="5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1000"/>
                                        <p:tgtEl>
                                          <p:spTgt spid="25"/>
                                        </p:tgtEl>
                                      </p:cBhvr>
                                    </p:animEffect>
                                    <p:anim calcmode="lin" valueType="num">
                                      <p:cBhvr>
                                        <p:cTn id="42" dur="1000" fill="hold"/>
                                        <p:tgtEl>
                                          <p:spTgt spid="25"/>
                                        </p:tgtEl>
                                        <p:attrNameLst>
                                          <p:attrName>ppt_x</p:attrName>
                                        </p:attrNameLst>
                                      </p:cBhvr>
                                      <p:tavLst>
                                        <p:tav tm="0">
                                          <p:val>
                                            <p:strVal val="#ppt_x"/>
                                          </p:val>
                                        </p:tav>
                                        <p:tav tm="100000">
                                          <p:val>
                                            <p:strVal val="#ppt_x"/>
                                          </p:val>
                                        </p:tav>
                                      </p:tavLst>
                                    </p:anim>
                                    <p:anim calcmode="lin" valueType="num">
                                      <p:cBhvr>
                                        <p:cTn id="4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1000"/>
                                        <p:tgtEl>
                                          <p:spTgt spid="39"/>
                                        </p:tgtEl>
                                      </p:cBhvr>
                                    </p:animEffect>
                                    <p:anim calcmode="lin" valueType="num">
                                      <p:cBhvr>
                                        <p:cTn id="49" dur="1000" fill="hold"/>
                                        <p:tgtEl>
                                          <p:spTgt spid="39"/>
                                        </p:tgtEl>
                                        <p:attrNameLst>
                                          <p:attrName>ppt_x</p:attrName>
                                        </p:attrNameLst>
                                      </p:cBhvr>
                                      <p:tavLst>
                                        <p:tav tm="0">
                                          <p:val>
                                            <p:strVal val="#ppt_x"/>
                                          </p:val>
                                        </p:tav>
                                        <p:tav tm="100000">
                                          <p:val>
                                            <p:strVal val="#ppt_x"/>
                                          </p:val>
                                        </p:tav>
                                      </p:tavLst>
                                    </p:anim>
                                    <p:anim calcmode="lin" valueType="num">
                                      <p:cBhvr>
                                        <p:cTn id="50" dur="1000" fill="hold"/>
                                        <p:tgtEl>
                                          <p:spTgt spid="39"/>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1000"/>
                                        <p:tgtEl>
                                          <p:spTgt spid="40"/>
                                        </p:tgtEl>
                                      </p:cBhvr>
                                    </p:animEffect>
                                    <p:anim calcmode="lin" valueType="num">
                                      <p:cBhvr>
                                        <p:cTn id="54" dur="1000" fill="hold"/>
                                        <p:tgtEl>
                                          <p:spTgt spid="40"/>
                                        </p:tgtEl>
                                        <p:attrNameLst>
                                          <p:attrName>ppt_x</p:attrName>
                                        </p:attrNameLst>
                                      </p:cBhvr>
                                      <p:tavLst>
                                        <p:tav tm="0">
                                          <p:val>
                                            <p:strVal val="#ppt_x"/>
                                          </p:val>
                                        </p:tav>
                                        <p:tav tm="100000">
                                          <p:val>
                                            <p:strVal val="#ppt_x"/>
                                          </p:val>
                                        </p:tav>
                                      </p:tavLst>
                                    </p:anim>
                                    <p:anim calcmode="lin" valueType="num">
                                      <p:cBhvr>
                                        <p:cTn id="55"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25" grpId="0" animBg="1"/>
      <p:bldP spid="28" grpId="0" animBg="1"/>
      <p:bldP spid="39" grpId="0" animBg="1"/>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C7E1B287-2D96-2CB6-7983-D99EDFB2FC6C}"/>
            </a:ext>
          </a:extLst>
        </p:cNvPr>
        <p:cNvGrpSpPr/>
        <p:nvPr/>
      </p:nvGrpSpPr>
      <p:grpSpPr>
        <a:xfrm>
          <a:off x="0" y="0"/>
          <a:ext cx="0" cy="0"/>
          <a:chOff x="0" y="0"/>
          <a:chExt cx="0" cy="0"/>
        </a:xfrm>
      </p:grpSpPr>
      <p:pic>
        <p:nvPicPr>
          <p:cNvPr id="4" name="Image 3" descr="Une image contenant flou, Caractère coloré, Magenta, obscurité&#10;&#10;Le contenu généré par l’IA peut être incorrect.">
            <a:extLst>
              <a:ext uri="{FF2B5EF4-FFF2-40B4-BE49-F238E27FC236}">
                <a16:creationId xmlns:a16="http://schemas.microsoft.com/office/drawing/2014/main" id="{03BD678D-0D91-E9DA-D371-53DB58768778}"/>
              </a:ext>
            </a:extLst>
          </p:cNvPr>
          <p:cNvPicPr>
            <a:picLocks noChangeAspect="1"/>
          </p:cNvPicPr>
          <p:nvPr/>
        </p:nvPicPr>
        <p:blipFill>
          <a:blip r:embed="rId3"/>
          <a:stretch>
            <a:fillRect/>
          </a:stretch>
        </p:blipFill>
        <p:spPr>
          <a:xfrm>
            <a:off x="0" y="-4263"/>
            <a:ext cx="9144000" cy="5275581"/>
          </a:xfrm>
          <a:prstGeom prst="rect">
            <a:avLst/>
          </a:prstGeom>
          <a:effectLst>
            <a:innerShdw blurRad="63500" dist="50800" dir="8100000">
              <a:schemeClr val="bg1">
                <a:alpha val="50000"/>
              </a:schemeClr>
            </a:innerShdw>
          </a:effectLst>
        </p:spPr>
      </p:pic>
      <p:sp>
        <p:nvSpPr>
          <p:cNvPr id="63" name="Google Shape;63;p14">
            <a:extLst>
              <a:ext uri="{FF2B5EF4-FFF2-40B4-BE49-F238E27FC236}">
                <a16:creationId xmlns:a16="http://schemas.microsoft.com/office/drawing/2014/main" id="{2EC82C7A-A523-8675-693E-3AD28D840AD7}"/>
              </a:ext>
            </a:extLst>
          </p:cNvPr>
          <p:cNvSpPr txBox="1">
            <a:spLocks noGrp="1"/>
          </p:cNvSpPr>
          <p:nvPr>
            <p:ph type="title"/>
          </p:nvPr>
        </p:nvSpPr>
        <p:spPr>
          <a:xfrm>
            <a:off x="985629" y="212801"/>
            <a:ext cx="6587987" cy="53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br>
              <a:rPr lang="fr" sz="2500" dirty="0">
                <a:solidFill>
                  <a:schemeClr val="bg1"/>
                </a:solidFill>
                <a:latin typeface="Inter SemiBold"/>
                <a:ea typeface="Inter SemiBold"/>
                <a:cs typeface="Inter SemiBold"/>
                <a:sym typeface="Inter SemiBold"/>
              </a:rPr>
            </a:br>
            <a:endParaRPr sz="2500" i="0" u="none" strike="noStrike" cap="none" dirty="0">
              <a:solidFill>
                <a:schemeClr val="bg1"/>
              </a:solidFill>
              <a:latin typeface="Inter SemiBold"/>
              <a:ea typeface="Inter SemiBold"/>
              <a:cs typeface="Inter SemiBold"/>
              <a:sym typeface="Inter SemiBold"/>
            </a:endParaRPr>
          </a:p>
        </p:txBody>
      </p:sp>
      <p:pic>
        <p:nvPicPr>
          <p:cNvPr id="64" name="Google Shape;64;p14">
            <a:extLst>
              <a:ext uri="{FF2B5EF4-FFF2-40B4-BE49-F238E27FC236}">
                <a16:creationId xmlns:a16="http://schemas.microsoft.com/office/drawing/2014/main" id="{7BDECF9F-6410-E770-D17D-EF896CBD9216}"/>
              </a:ext>
            </a:extLst>
          </p:cNvPr>
          <p:cNvPicPr preferRelativeResize="0"/>
          <p:nvPr/>
        </p:nvPicPr>
        <p:blipFill rotWithShape="1">
          <a:blip r:embed="rId4">
            <a:alphaModFix/>
          </a:blip>
          <a:srcRect/>
          <a:stretch/>
        </p:blipFill>
        <p:spPr>
          <a:xfrm>
            <a:off x="362310" y="339372"/>
            <a:ext cx="576900" cy="385904"/>
          </a:xfrm>
          <a:prstGeom prst="rect">
            <a:avLst/>
          </a:prstGeom>
          <a:noFill/>
          <a:ln>
            <a:noFill/>
          </a:ln>
        </p:spPr>
      </p:pic>
      <p:pic>
        <p:nvPicPr>
          <p:cNvPr id="5" name="Image 4" descr="Une image contenant Graphique, capture d’écran, Caractère coloré, rouge&#10;&#10;Le contenu généré par l’IA peut être incorrect.">
            <a:extLst>
              <a:ext uri="{FF2B5EF4-FFF2-40B4-BE49-F238E27FC236}">
                <a16:creationId xmlns:a16="http://schemas.microsoft.com/office/drawing/2014/main" id="{3850BEE0-064F-D1E2-B6F1-4789C42E462C}"/>
              </a:ext>
            </a:extLst>
          </p:cNvPr>
          <p:cNvPicPr>
            <a:picLocks noChangeAspect="1"/>
          </p:cNvPicPr>
          <p:nvPr/>
        </p:nvPicPr>
        <p:blipFill>
          <a:blip r:embed="rId5"/>
          <a:stretch>
            <a:fillRect/>
          </a:stretch>
        </p:blipFill>
        <p:spPr>
          <a:xfrm>
            <a:off x="8477547" y="150980"/>
            <a:ext cx="535259" cy="574296"/>
          </a:xfrm>
          <a:prstGeom prst="rect">
            <a:avLst/>
          </a:prstGeom>
        </p:spPr>
      </p:pic>
      <p:sp>
        <p:nvSpPr>
          <p:cNvPr id="3" name="Google Shape;246;p21">
            <a:extLst>
              <a:ext uri="{FF2B5EF4-FFF2-40B4-BE49-F238E27FC236}">
                <a16:creationId xmlns:a16="http://schemas.microsoft.com/office/drawing/2014/main" id="{A3688B31-5854-F9FF-2C20-F53F8DEC2B48}"/>
              </a:ext>
            </a:extLst>
          </p:cNvPr>
          <p:cNvSpPr txBox="1">
            <a:spLocks/>
          </p:cNvSpPr>
          <p:nvPr/>
        </p:nvSpPr>
        <p:spPr>
          <a:xfrm>
            <a:off x="4389858" y="5372942"/>
            <a:ext cx="540888" cy="751733"/>
          </a:xfrm>
          <a:prstGeom prst="rect">
            <a:avLst/>
          </a:prstGeom>
        </p:spPr>
        <p:txBody>
          <a:bodyPr spcFirstLastPara="1" vert="horz" wrap="square" lIns="91425" tIns="91425" rIns="91425" bIns="91425" rtlCol="0" anchor="ctr" anchorCtr="0">
            <a:noAutofit/>
          </a:bodyPr>
          <a:lstStyle>
            <a:defPPr>
              <a:defRPr lang="fr-FR"/>
            </a:defPPr>
            <a:lvl1pPr marL="0" lvl="0" algn="r" defTabSz="914400" rtl="0" eaLnBrk="1" latinLnBrk="0" hangingPunct="1">
              <a:buNone/>
              <a:defRPr sz="900" kern="1200">
                <a:solidFill>
                  <a:schemeClr val="tx1">
                    <a:tint val="82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fld id="{00000000-1234-1234-1234-123412341234}" type="slidenum">
              <a:rPr lang="fr" smtClean="0">
                <a:solidFill>
                  <a:schemeClr val="lt1"/>
                </a:solidFill>
              </a:rPr>
              <a:pPr/>
              <a:t>11</a:t>
            </a:fld>
            <a:endParaRPr lang="fr" dirty="0">
              <a:solidFill>
                <a:schemeClr val="lt1"/>
              </a:solidFill>
            </a:endParaRPr>
          </a:p>
        </p:txBody>
      </p:sp>
      <p:sp>
        <p:nvSpPr>
          <p:cNvPr id="47" name="Espace réservé du numéro de diapositive 1">
            <a:extLst>
              <a:ext uri="{FF2B5EF4-FFF2-40B4-BE49-F238E27FC236}">
                <a16:creationId xmlns:a16="http://schemas.microsoft.com/office/drawing/2014/main" id="{CBD19EF8-5D06-4626-62DF-E34CB4A238F0}"/>
              </a:ext>
            </a:extLst>
          </p:cNvPr>
          <p:cNvSpPr txBox="1">
            <a:spLocks/>
          </p:cNvSpPr>
          <p:nvPr/>
        </p:nvSpPr>
        <p:spPr>
          <a:xfrm>
            <a:off x="8615199" y="5390299"/>
            <a:ext cx="527639" cy="729940"/>
          </a:xfrm>
          <a:prstGeom prst="rect">
            <a:avLst/>
          </a:prstGeom>
        </p:spPr>
        <p:txBody>
          <a:bodyPr spcFirstLastPara="1" vert="horz" wrap="square" lIns="91425" tIns="91425" rIns="91425" bIns="91425" rtlCol="0" anchor="ctr" anchorCtr="0">
            <a:noAutofit/>
          </a:bodyPr>
          <a:lstStyle>
            <a:defPPr>
              <a:defRPr lang="fr-FR"/>
            </a:defPPr>
            <a:lvl1pPr marL="0" lvl="0" algn="r" defTabSz="914400" rtl="0" eaLnBrk="1" latinLnBrk="0" hangingPunct="1">
              <a:buNone/>
              <a:defRPr sz="900" kern="1200">
                <a:solidFill>
                  <a:schemeClr val="tx1">
                    <a:tint val="82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endParaRPr lang="fr-FR" dirty="0"/>
          </a:p>
        </p:txBody>
      </p:sp>
      <p:sp>
        <p:nvSpPr>
          <p:cNvPr id="8" name="ZoneTexte 7">
            <a:extLst>
              <a:ext uri="{FF2B5EF4-FFF2-40B4-BE49-F238E27FC236}">
                <a16:creationId xmlns:a16="http://schemas.microsoft.com/office/drawing/2014/main" id="{4EE6DA24-2065-43ED-E065-82422C74E2B8}"/>
              </a:ext>
            </a:extLst>
          </p:cNvPr>
          <p:cNvSpPr txBox="1"/>
          <p:nvPr/>
        </p:nvSpPr>
        <p:spPr>
          <a:xfrm>
            <a:off x="1317523" y="1347019"/>
            <a:ext cx="5540477" cy="923330"/>
          </a:xfrm>
          <a:prstGeom prst="rect">
            <a:avLst/>
          </a:prstGeom>
          <a:noFill/>
        </p:spPr>
        <p:txBody>
          <a:bodyPr wrap="square">
            <a:spAutoFit/>
          </a:bodyPr>
          <a:lstStyle/>
          <a:p>
            <a:r>
              <a:rPr lang="fr" sz="5400" dirty="0">
                <a:solidFill>
                  <a:schemeClr val="bg1">
                    <a:lumMod val="85000"/>
                  </a:schemeClr>
                </a:solidFill>
                <a:latin typeface="Inter SemiBold"/>
                <a:ea typeface="Inter SemiBold"/>
                <a:cs typeface="Inter SemiBold"/>
                <a:sym typeface="Inter SemiBold"/>
              </a:rPr>
              <a:t>Any questions ?</a:t>
            </a:r>
            <a:endParaRPr lang="fr-FR" sz="5400" dirty="0">
              <a:solidFill>
                <a:schemeClr val="bg1">
                  <a:lumMod val="85000"/>
                </a:schemeClr>
              </a:solidFill>
            </a:endParaRPr>
          </a:p>
        </p:txBody>
      </p:sp>
      <p:pic>
        <p:nvPicPr>
          <p:cNvPr id="9" name="Google Shape;252;p22">
            <a:extLst>
              <a:ext uri="{FF2B5EF4-FFF2-40B4-BE49-F238E27FC236}">
                <a16:creationId xmlns:a16="http://schemas.microsoft.com/office/drawing/2014/main" id="{2755168E-726C-525B-A712-47927731FEA3}"/>
              </a:ext>
            </a:extLst>
          </p:cNvPr>
          <p:cNvPicPr preferRelativeResize="0"/>
          <p:nvPr/>
        </p:nvPicPr>
        <p:blipFill rotWithShape="1">
          <a:blip r:embed="rId6">
            <a:alphaModFix/>
          </a:blip>
          <a:srcRect/>
          <a:stretch/>
        </p:blipFill>
        <p:spPr>
          <a:xfrm>
            <a:off x="4279719" y="2855644"/>
            <a:ext cx="4599299" cy="2136876"/>
          </a:xfrm>
          <a:prstGeom prst="rect">
            <a:avLst/>
          </a:prstGeom>
          <a:noFill/>
          <a:ln>
            <a:noFill/>
          </a:ln>
        </p:spPr>
      </p:pic>
    </p:spTree>
    <p:extLst>
      <p:ext uri="{BB962C8B-B14F-4D97-AF65-F5344CB8AC3E}">
        <p14:creationId xmlns:p14="http://schemas.microsoft.com/office/powerpoint/2010/main" val="1848578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58">
          <a:extLst>
            <a:ext uri="{FF2B5EF4-FFF2-40B4-BE49-F238E27FC236}">
              <a16:creationId xmlns:a16="http://schemas.microsoft.com/office/drawing/2014/main" id="{323D9786-7592-9830-E10B-6234E167CF8E}"/>
            </a:ext>
          </a:extLst>
        </p:cNvPr>
        <p:cNvGrpSpPr/>
        <p:nvPr/>
      </p:nvGrpSpPr>
      <p:grpSpPr>
        <a:xfrm>
          <a:off x="0" y="0"/>
          <a:ext cx="0" cy="0"/>
          <a:chOff x="0" y="0"/>
          <a:chExt cx="0" cy="0"/>
        </a:xfrm>
      </p:grpSpPr>
      <p:sp>
        <p:nvSpPr>
          <p:cNvPr id="259" name="Google Shape;259;p23">
            <a:extLst>
              <a:ext uri="{FF2B5EF4-FFF2-40B4-BE49-F238E27FC236}">
                <a16:creationId xmlns:a16="http://schemas.microsoft.com/office/drawing/2014/main" id="{476A18C9-0AD7-EF7D-B9C6-7B6F7605BE08}"/>
              </a:ext>
            </a:extLst>
          </p:cNvPr>
          <p:cNvSpPr txBox="1">
            <a:spLocks noGrp="1"/>
          </p:cNvSpPr>
          <p:nvPr>
            <p:ph type="title"/>
          </p:nvPr>
        </p:nvSpPr>
        <p:spPr>
          <a:xfrm>
            <a:off x="1192664" y="54384"/>
            <a:ext cx="5315100" cy="53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800"/>
              <a:buFont typeface="Arial"/>
              <a:buNone/>
            </a:pPr>
            <a:r>
              <a:rPr lang="fr" sz="2500" dirty="0">
                <a:solidFill>
                  <a:srgbClr val="0E3449"/>
                </a:solidFill>
                <a:latin typeface="Inter SemiBold"/>
                <a:ea typeface="Inter SemiBold"/>
                <a:cs typeface="Inter SemiBold"/>
                <a:sym typeface="Inter SemiBold"/>
              </a:rPr>
              <a:t>Schéma en étoile à modifier</a:t>
            </a:r>
            <a:endParaRPr sz="2500" i="0" u="none" strike="noStrike" cap="none" dirty="0">
              <a:solidFill>
                <a:srgbClr val="0E3449"/>
              </a:solidFill>
              <a:latin typeface="Inter SemiBold"/>
              <a:ea typeface="Inter SemiBold"/>
              <a:cs typeface="Inter SemiBold"/>
              <a:sym typeface="Inter SemiBold"/>
            </a:endParaRPr>
          </a:p>
        </p:txBody>
      </p:sp>
      <p:sp>
        <p:nvSpPr>
          <p:cNvPr id="262" name="Google Shape;262;p23">
            <a:extLst>
              <a:ext uri="{FF2B5EF4-FFF2-40B4-BE49-F238E27FC236}">
                <a16:creationId xmlns:a16="http://schemas.microsoft.com/office/drawing/2014/main" id="{FFC9E85A-53C5-366E-51A0-78AA932A98E8}"/>
              </a:ext>
            </a:extLst>
          </p:cNvPr>
          <p:cNvSpPr txBox="1">
            <a:spLocks noGrp="1"/>
          </p:cNvSpPr>
          <p:nvPr>
            <p:ph type="sldNum" idx="12"/>
          </p:nvPr>
        </p:nvSpPr>
        <p:spPr>
          <a:xfrm>
            <a:off x="4652658" y="4820917"/>
            <a:ext cx="548700" cy="393600"/>
          </a:xfrm>
          <a:prstGeom prst="rect">
            <a:avLst/>
          </a:prstGeom>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fr" sz="900" b="0" i="0" u="none" strike="noStrike" kern="1200" cap="none" spc="0" normalizeH="0" baseline="0" noProof="0">
                <a:ln>
                  <a:noFill/>
                </a:ln>
                <a:solidFill>
                  <a:prstClr val="white"/>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9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260" name="Google Shape;260;p23">
            <a:extLst>
              <a:ext uri="{FF2B5EF4-FFF2-40B4-BE49-F238E27FC236}">
                <a16:creationId xmlns:a16="http://schemas.microsoft.com/office/drawing/2014/main" id="{3FC38B5C-C81B-525B-4000-5530D7ACCE39}"/>
              </a:ext>
            </a:extLst>
          </p:cNvPr>
          <p:cNvPicPr preferRelativeResize="0"/>
          <p:nvPr/>
        </p:nvPicPr>
        <p:blipFill rotWithShape="1">
          <a:blip r:embed="rId3">
            <a:alphaModFix/>
          </a:blip>
          <a:srcRect/>
          <a:stretch/>
        </p:blipFill>
        <p:spPr>
          <a:xfrm>
            <a:off x="463375" y="133927"/>
            <a:ext cx="576900" cy="385904"/>
          </a:xfrm>
          <a:prstGeom prst="rect">
            <a:avLst/>
          </a:prstGeom>
          <a:noFill/>
          <a:ln>
            <a:noFill/>
          </a:ln>
        </p:spPr>
      </p:pic>
      <p:sp>
        <p:nvSpPr>
          <p:cNvPr id="261" name="Google Shape;261;p23">
            <a:extLst>
              <a:ext uri="{FF2B5EF4-FFF2-40B4-BE49-F238E27FC236}">
                <a16:creationId xmlns:a16="http://schemas.microsoft.com/office/drawing/2014/main" id="{D6396363-2E84-8D0C-BCF9-7BE928F2CA01}"/>
              </a:ext>
            </a:extLst>
          </p:cNvPr>
          <p:cNvSpPr/>
          <p:nvPr/>
        </p:nvSpPr>
        <p:spPr>
          <a:xfrm>
            <a:off x="10225" y="4892025"/>
            <a:ext cx="9144000" cy="2514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sym typeface="Arial"/>
            </a:endParaRPr>
          </a:p>
        </p:txBody>
      </p:sp>
      <p:sp>
        <p:nvSpPr>
          <p:cNvPr id="2" name="Espace réservé du numéro de diapositive 1">
            <a:extLst>
              <a:ext uri="{FF2B5EF4-FFF2-40B4-BE49-F238E27FC236}">
                <a16:creationId xmlns:a16="http://schemas.microsoft.com/office/drawing/2014/main" id="{661478F4-35E3-69F3-CAEB-72023D3BBA04}"/>
              </a:ext>
            </a:extLst>
          </p:cNvPr>
          <p:cNvSpPr txBox="1">
            <a:spLocks/>
          </p:cNvSpPr>
          <p:nvPr/>
        </p:nvSpPr>
        <p:spPr>
          <a:xfrm>
            <a:off x="8618966" y="4832327"/>
            <a:ext cx="535259" cy="382190"/>
          </a:xfrm>
          <a:prstGeom prst="rect">
            <a:avLst/>
          </a:prstGeom>
        </p:spPr>
        <p:txBody>
          <a:bodyPr spcFirstLastPara="1" vert="horz" wrap="square" lIns="91425" tIns="91425" rIns="91425" bIns="91425" rtlCol="0" anchor="ctr" anchorCtr="0">
            <a:noAutofit/>
          </a:bodyPr>
          <a:lstStyle>
            <a:defPPr>
              <a:defRPr lang="fr-FR"/>
            </a:defPPr>
            <a:lvl1pPr marL="0" lvl="0" algn="r" defTabSz="914400" rtl="0" eaLnBrk="1" latinLnBrk="0" hangingPunct="1">
              <a:buNone/>
              <a:defRPr sz="900" kern="1200">
                <a:solidFill>
                  <a:schemeClr val="tx1">
                    <a:tint val="82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fr-FR" sz="9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9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pic>
        <p:nvPicPr>
          <p:cNvPr id="4" name="Image 3" descr="Une image contenant texte, capture d’écran, Post-it, Rectangle">
            <a:extLst>
              <a:ext uri="{FF2B5EF4-FFF2-40B4-BE49-F238E27FC236}">
                <a16:creationId xmlns:a16="http://schemas.microsoft.com/office/drawing/2014/main" id="{BE8674AA-AE4D-88B8-E88C-F95EAB0A282C}"/>
              </a:ext>
            </a:extLst>
          </p:cNvPr>
          <p:cNvPicPr>
            <a:picLocks noChangeAspect="1"/>
          </p:cNvPicPr>
          <p:nvPr/>
        </p:nvPicPr>
        <p:blipFill>
          <a:blip r:embed="rId4"/>
          <a:stretch>
            <a:fillRect/>
          </a:stretch>
        </p:blipFill>
        <p:spPr>
          <a:xfrm>
            <a:off x="80658" y="555182"/>
            <a:ext cx="8944072" cy="4255374"/>
          </a:xfrm>
          <a:prstGeom prst="rect">
            <a:avLst/>
          </a:prstGeom>
        </p:spPr>
      </p:pic>
    </p:spTree>
    <p:extLst>
      <p:ext uri="{BB962C8B-B14F-4D97-AF65-F5344CB8AC3E}">
        <p14:creationId xmlns:p14="http://schemas.microsoft.com/office/powerpoint/2010/main" val="152308000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11971</TotalTime>
  <Words>2231</Words>
  <Application>Microsoft Office PowerPoint</Application>
  <PresentationFormat>Affichage à l'écran (16:9)</PresentationFormat>
  <Paragraphs>191</Paragraphs>
  <Slides>12</Slides>
  <Notes>12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12</vt:i4>
      </vt:variant>
    </vt:vector>
  </HeadingPairs>
  <TitlesOfParts>
    <vt:vector size="21" baseType="lpstr">
      <vt:lpstr>Aptos Display</vt:lpstr>
      <vt:lpstr>Inter</vt:lpstr>
      <vt:lpstr>Roboto</vt:lpstr>
      <vt:lpstr>Arial</vt:lpstr>
      <vt:lpstr>Aptos</vt:lpstr>
      <vt:lpstr>Abadi</vt:lpstr>
      <vt:lpstr>Wingdings</vt:lpstr>
      <vt:lpstr>Inter SemiBold</vt:lpstr>
      <vt:lpstr>Thème Office</vt:lpstr>
      <vt:lpstr>Projet  Netflix</vt:lpstr>
      <vt:lpstr>Contexte</vt:lpstr>
      <vt:lpstr>Objectif de l’Analyse  </vt:lpstr>
      <vt:lpstr>Vision Globale   </vt:lpstr>
      <vt:lpstr>Catalogue et Popularité  </vt:lpstr>
      <vt:lpstr>Géographie et Diversité </vt:lpstr>
      <vt:lpstr>Evolution du Catalogue dans le temps </vt:lpstr>
      <vt:lpstr>Analyse Réseau Acteurs/Réalisateurs  </vt:lpstr>
      <vt:lpstr>Budget et Revenu </vt:lpstr>
      <vt:lpstr>Recommandations </vt:lpstr>
      <vt:lpstr> </vt:lpstr>
      <vt:lpstr>Schéma en étoile à modifier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Hana BENYAHIA</cp:lastModifiedBy>
  <cp:revision>41</cp:revision>
  <dcterms:modified xsi:type="dcterms:W3CDTF">2026-01-09T16:46:28Z</dcterms:modified>
</cp:coreProperties>
</file>